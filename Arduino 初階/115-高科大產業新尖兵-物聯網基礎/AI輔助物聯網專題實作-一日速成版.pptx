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3" d="100"/>
          <a:sy n="93" d="100"/>
        </p:scale>
        <p:origin x="683" y="6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169992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師備註】課堂建議預設模式二：一人一機一套件剛好用滿，且「介面約定→平行開發→雲端對接」是給非電資學員最有感的軟體工程體驗；兩節點不在同一台電腦上還能直觀感受「資料真的走過雲端」。雙人模式下兩人各開自己的 AI 對話串（都貼開場Prompt＋完整規格書），各自只推進自己節點的里程碑。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【講師備註】第 1 節（40分）「AI 協作基本功」。目標：AI 能做什麼、會在哪裡出錯，為什麼驗證永遠在你；對話四要素：角色、脈絡、限制、輸出格式；實作：建立專題對話串（雙人協作：兩人各建一串）。提醒：完整版教材對應：單元 1。教學建議：Prompt 模板讓學員當場操作，AI 回覆各有不同，引導學員檢查回覆是否含模板要求的項目，而非比對標準答案。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【講師備註】第 2 節（50分）「規格書：今天的施工藍圖」。目標：了解規格書七項目 — 為什麼 AI 需要它們；實作：上傳規格書，取得 AI 的工作步驟規劃；雙人協作：規格書就是兩人的「介面合約」— 一起逐條讀過。提醒：完整版教材對應：單元 2（課後務必細讀 — 這是自訂專題的核心能力）。教學建議：Prompt 模板讓學員當場操作，AI 回覆各有不同，引導學員檢查回覆是否含模板要求的項目，而非比對標準答案。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【講師備註】雙人協作：請兩人一起逐條讀「項目4 資料流與格式」— 這是他們的介面合約。JSON 欄位名（node、occ、cmd、act）與 topic 一字都不能不一樣，否則第5節對接必出事（而這正是可以現場教學的點）。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【講師備註】第 3 節（70分）「動工：節點A（單人）／平行開發（雙人）」。目標：單人雙板：本節完成節點A（接線→測試→整合）；雙人雙機：A、B 工程師同時動工 — A 照本節、B 直接翻到第4節；共同鐵律：斷電接線、每步驗證。提醒：完整版教材對應：單元 3、4。教學建議：Prompt 模板讓學員當場操作，AI 回覆各有不同，引導學員檢查回覆是否含模板要求的項目，而非比對標準答案。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【講師備註】AI 給的腳位可能與參考表不同（如 D7/D8）— 都可以，重點是學員自己的程式要與自己的接線一致。巡場檢查 VCC/GND 有沒有接反。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【講師備註】第 4 節（80分）「節點B：出入口控制」。目標：單人雙板：第4節做節點B；雙人雙機：B 工程師從第3節就開始本段；接線：伺服馬達外部供電是全日最大陷阱；逐模組測試 → 整合程式（收 JSON 命令＋按鈕邏輯）。提醒：完整版教材對應：單元 3、4、5。教學建議：Prompt 模板讓學員當場操作，AI 回覆各有不同，引導學員檢查回覆是否含模板要求的項目，而非比對標準答案。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【講師備註】巡場重點就是供電與共地。雙人雙機模式下，B 工程師在第3節就會做到這頁 — 巡場要提早開始。AI 給的腳位可能與參考表不同，重點是程式與接線一致。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【講師備註】三個測試逐一通過再進 4c。任何一個不動作：先查接線（尤其 SG90 供電），再用問題回報模板問 AI。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【講師備註】第3、4節是卡關高峰。執行「10分鐘規則」：卡超過10分鐘的組，講師直接介入檢查供電與接線（通常就是這兩樣）。雙人協作時鼓勵先問隊友再問講師 — 對方節點的視角常常一眼看出問題。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【講師備註】第 5 節（70分）「Node-RED：把兩個節點接上雲端」。目標：單人雙板：一台電腦一個 flow 管兩片 UNO；雙人雙機：兩台電腦各當一個閘道，經 MQTT 雲端對接 — 資料真的走過網際網路；殺手級技巧：請 AI 直接生成可匯入的 flow JSON。提醒：完整版教材對應：單元 6。教學建議：Prompt 模板讓學員當場操作，AI 回覆各有不同，引導學員檢查回覆是否含模板要求的項目，而非比對標準答案。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【講師備註】topic 的 class 請各組換成組別代號（group1-parking/…），否則全班互收訊息 — 這本身是很好的即席教學點：public broker 人人都能訂閱。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【講師備註】這一頁是雙人模式的高光時刻 — 資料從 A 的電腦經 broker 到 B 的電腦，學員第一次「看見」物聯網。topic 的 class 務必換成組別代號，否則全班互收（可故意示範一次讓大家有感）。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【講師備註】第 6 節（40分）「整合驗收」。目標：照規格書的 5 條驗收標準逐項打勾；雙人雙機：交叉驗收 — 由對方操作你負責的節點；沒過的項目：現場用除錯對話術解決。提醒：完整版教材對應：單元 7 的 M7。教學建議：Prompt 模板讓學員當場操作，AI 回覆各有不同，引導學員檢查回覆是否含模板要求的項目，而非比對標準答案。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64608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AAC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用生成式AI完成你的物聯網專題（一日速成版）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49640" y="486460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AACB5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034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49640" y="486460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E8893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49640" y="486460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AACB5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93268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17B8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 日 實 作 營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58368" y="1371600"/>
            <a:ext cx="7863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用生成式AI完成</a:t>
            </a:r>
            <a:endParaRPr lang="en-US" sz="4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你的物聯網專題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85800" y="306324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FD9D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 小時：從規格到成品 — 兩片 Arduino UNO 的智慧停車場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85800" y="3703320"/>
            <a:ext cx="7635240" cy="475488"/>
          </a:xfrm>
          <a:prstGeom prst="roundRect">
            <a:avLst>
              <a:gd name="adj" fmla="val 23077"/>
            </a:avLst>
          </a:prstGeom>
          <a:solidFill>
            <a:srgbClr val="1C4956"/>
          </a:solidFill>
          <a:ln w="9525">
            <a:solidFill>
              <a:srgbClr val="17B8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370332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8E8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單人雙板自學，或雙人雙機協作 — 今天你不寫程式，但要讓 AI 寫對、並證明它是對的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85800" y="45262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E9CA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搭配教材：《用生成式AI完成你的物聯網專題》完整版（課後自學深化用）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49640" y="486460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E8893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9456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430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今天要做出什麼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D6B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單車位智慧停車場 — 麻雀雖小，五臟俱全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1828800" cy="914400"/>
          </a:xfrm>
          <a:prstGeom prst="roundRect">
            <a:avLst>
              <a:gd name="adj" fmla="val 9000"/>
            </a:avLst>
          </a:prstGeom>
          <a:solidFill>
            <a:srgbClr val="0A7E8C"/>
          </a:solidFill>
          <a:ln/>
          <a:effectLst>
            <a:outerShdw blurRad="635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23444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節點A</a:t>
            </a:r>
            <a:endParaRPr lang="en-US" sz="11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車位感測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788920" y="1234440"/>
            <a:ext cx="2103120" cy="914400"/>
          </a:xfrm>
          <a:prstGeom prst="roundRect">
            <a:avLst>
              <a:gd name="adj" fmla="val 9000"/>
            </a:avLst>
          </a:prstGeom>
          <a:solidFill>
            <a:srgbClr val="10343D"/>
          </a:solidFill>
          <a:ln/>
          <a:effectLst>
            <a:outerShdw blurRad="635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88920" y="123444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PC＋Node-RED</a:t>
            </a:r>
            <a:endParaRPr lang="en-US" sz="11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閘道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394960" y="1234440"/>
            <a:ext cx="1554480" cy="914400"/>
          </a:xfrm>
          <a:prstGeom prst="roundRect">
            <a:avLst>
              <a:gd name="adj" fmla="val 9000"/>
            </a:avLst>
          </a:prstGeom>
          <a:solidFill>
            <a:srgbClr val="1C4956"/>
          </a:solidFill>
          <a:ln/>
          <a:effectLst>
            <a:outerShdw blurRad="635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394960" y="123444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MQTT</a:t>
            </a:r>
            <a:endParaRPr lang="en-US" sz="11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雲端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406640" y="1234440"/>
            <a:ext cx="1280160" cy="914400"/>
          </a:xfrm>
          <a:prstGeom prst="roundRect">
            <a:avLst>
              <a:gd name="adj" fmla="val 9000"/>
            </a:avLst>
          </a:prstGeom>
          <a:solidFill>
            <a:srgbClr val="17B890"/>
          </a:solidFill>
          <a:ln/>
          <a:effectLst>
            <a:outerShdw blurRad="635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406640" y="123444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034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網頁</a:t>
            </a:r>
            <a:endParaRPr lang="en-US" sz="11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034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監控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286000" y="1691640"/>
            <a:ext cx="502920" cy="0"/>
          </a:xfrm>
          <a:prstGeom prst="line">
            <a:avLst/>
          </a:prstGeom>
          <a:noFill/>
          <a:ln w="19050">
            <a:solidFill>
              <a:srgbClr val="5D6B7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92040" y="1691640"/>
            <a:ext cx="502920" cy="0"/>
          </a:xfrm>
          <a:prstGeom prst="line">
            <a:avLst/>
          </a:prstGeom>
          <a:noFill/>
          <a:ln w="19050">
            <a:solidFill>
              <a:srgbClr val="5D6B7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949440" y="1691640"/>
            <a:ext cx="457200" cy="0"/>
          </a:xfrm>
          <a:prstGeom prst="line">
            <a:avLst/>
          </a:prstGeom>
          <a:noFill/>
          <a:ln w="19050">
            <a:solidFill>
              <a:srgbClr val="5D6B7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423160"/>
            <a:ext cx="1828800" cy="914400"/>
          </a:xfrm>
          <a:prstGeom prst="roundRect">
            <a:avLst>
              <a:gd name="adj" fmla="val 9000"/>
            </a:avLst>
          </a:prstGeom>
          <a:solidFill>
            <a:srgbClr val="0A7E8C"/>
          </a:solidFill>
          <a:ln/>
          <a:effectLst>
            <a:outerShdw blurRad="635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57200" y="242316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節點B</a:t>
            </a:r>
            <a:endParaRPr lang="en-US" sz="11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出入口控制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84048" y="33649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D6B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UNO＋柵欄＋紅綠燈＋按鈕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286000" y="2880360"/>
            <a:ext cx="502920" cy="0"/>
          </a:xfrm>
          <a:prstGeom prst="line">
            <a:avLst/>
          </a:prstGeom>
          <a:noFill/>
          <a:ln w="19050">
            <a:solidFill>
              <a:srgbClr val="5D6B7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88920" y="2148840"/>
            <a:ext cx="0" cy="731520"/>
          </a:xfrm>
          <a:prstGeom prst="line">
            <a:avLst/>
          </a:prstGeom>
          <a:noFill/>
          <a:ln w="19050">
            <a:solidFill>
              <a:srgbClr val="5D6B7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88920" y="2514600"/>
            <a:ext cx="5897880" cy="1143000"/>
          </a:xfrm>
          <a:prstGeom prst="roundRect">
            <a:avLst>
              <a:gd name="adj" fmla="val 7200"/>
            </a:avLst>
          </a:prstGeom>
          <a:solidFill>
            <a:srgbClr val="F0F7F8"/>
          </a:solidFill>
          <a:ln/>
        </p:spPr>
      </p:sp>
      <p:sp>
        <p:nvSpPr>
          <p:cNvPr id="21" name="Text 19"/>
          <p:cNvSpPr/>
          <p:nvPr/>
        </p:nvSpPr>
        <p:spPr>
          <a:xfrm>
            <a:off x="2953512" y="2624328"/>
            <a:ext cx="5568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5F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系統行為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953512" y="2971800"/>
            <a:ext cx="556869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2430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車位空 → 節點B 綠燈，按鈕（模擬來車）可開柵欄 5 秒；車位被占 → 紅燈，按鈕不開柵欄；網頁即時顯示車位狀態，並可手動開閘。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788920" y="3730752"/>
            <a:ext cx="5897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D6B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「閘道」可以是一台電腦（單人），也可以是兩台電腦各當一個閘道（雙人）→ 下一頁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7200" y="4114800"/>
            <a:ext cx="8229600" cy="602742"/>
          </a:xfrm>
          <a:prstGeom prst="roundRect">
            <a:avLst>
              <a:gd name="adj" fmla="val 12137"/>
            </a:avLst>
          </a:prstGeom>
          <a:solidFill>
            <a:srgbClr val="E7F3E9"/>
          </a:solidFill>
          <a:ln/>
        </p:spPr>
      </p:sp>
      <p:sp>
        <p:nvSpPr>
          <p:cNvPr id="25" name="Shape 23"/>
          <p:cNvSpPr/>
          <p:nvPr/>
        </p:nvSpPr>
        <p:spPr>
          <a:xfrm>
            <a:off x="566928" y="4297299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2E8540"/>
          </a:solidFill>
          <a:ln/>
        </p:spPr>
      </p:sp>
      <p:sp>
        <p:nvSpPr>
          <p:cNvPr id="26" name="Text 24"/>
          <p:cNvSpPr/>
          <p:nvPr/>
        </p:nvSpPr>
        <p:spPr>
          <a:xfrm>
            <a:off x="566928" y="4297299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TIP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261872" y="4151376"/>
            <a:ext cx="7269480" cy="5295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430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與完整版教材的三車位專題相比：少了 OLED、光敏與第二顆超音波 — 流程完全相同，課後照完整版單元 7 即可自行升級。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2377440" y="93268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D6B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超音波偵測車位（距離&lt;10cm=占用）</a:t>
            </a:r>
            <a:endParaRPr lang="en-US" sz="9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49640" y="486460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AACB5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9456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430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兩種完成模式：開工前先選一種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D6B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教室現場一人一機皆可上網 — 雙人協作不必共用電腦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4023360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21792" y="1115568"/>
            <a:ext cx="3694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5F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模式一｜單人雙板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21792" y="1463040"/>
            <a:ext cx="3694176" cy="1764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2430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一人、一台電腦、兩套套件（兩片 UNO 都插自己的電腦）</a:t>
            </a:r>
            <a:endParaRPr lang="en-US" sz="1050" dirty="0"/>
          </a:p>
          <a:p>
            <a:pPr marL="0" indent="0">
              <a:lnSpc>
                <a:spcPct val="122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2430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照本教材時程依序開發：第3節節點A → 第4節節點B → 第5節上雲</a:t>
            </a:r>
            <a:endParaRPr lang="en-US" sz="1050" dirty="0"/>
          </a:p>
          <a:p>
            <a:pPr marL="0" indent="0">
              <a:lnSpc>
                <a:spcPct val="122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2430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一個 AI 對話串貫穿全程</a:t>
            </a:r>
            <a:endParaRPr lang="en-US" sz="10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5D6B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適合：自學、進度想自己掌握的人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663440" y="1005840"/>
            <a:ext cx="4023360" cy="2331720"/>
          </a:xfrm>
          <a:prstGeom prst="roundRect">
            <a:avLst>
              <a:gd name="adj" fmla="val 3529"/>
            </a:avLst>
          </a:prstGeom>
          <a:solidFill>
            <a:srgbClr val="F0F7F8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28032" y="1115568"/>
            <a:ext cx="3694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5F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模式二｜雙人雙機協作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28032" y="1463040"/>
            <a:ext cx="3694176" cy="1764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2430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兩人各用自己的電腦與套件，各認領一個節點，UNO 插自己的電腦</a:t>
            </a:r>
            <a:endParaRPr lang="en-US" sz="1050" dirty="0"/>
          </a:p>
          <a:p>
            <a:pPr marL="0" indent="0">
              <a:lnSpc>
                <a:spcPct val="122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2430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第3、4節平行開發（各自的 AI 對話串）；第5節「雲端對接」：兩台電腦各跑 Node-RED 當閘道，透過 MQTT 把 A、B 串起來</a:t>
            </a:r>
            <a:endParaRPr lang="en-US" sz="1050" dirty="0"/>
          </a:p>
          <a:p>
            <a:pPr marL="0" indent="0">
              <a:lnSpc>
                <a:spcPct val="122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2430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A工程師＝感測端閘道；B工程師＝控制端閘道＋dashboard</a:t>
            </a:r>
            <a:endParaRPr lang="en-US" sz="10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5D6B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適合：課堂分組 — 這就是真實物聯網的多閘道架構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35204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5F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雙人協作的三條約定（真實工程的縮影）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385876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B337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介面凍結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965960" y="3858768"/>
            <a:ext cx="6720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430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規格書裡的 JSON 格式與 MQTT topic 就是兩人的合約 — 誰都不可私自更動，要改先討論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920" y="416966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B337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先驗證再對接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965960" y="4169664"/>
            <a:ext cx="6720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430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對接前，各節點必須通過「監控視窗」驗證（實作3c／4c）— 別把問題帶進整合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02920" y="448056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B337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對接後一起除錯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965960" y="4480560"/>
            <a:ext cx="6720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430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整合出問題多半是「介面認知不一致」：兩人把各自的 JSON 輸出與預期，貼給同一個 AI 對談判斷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49640" y="486460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AACB5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9456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430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今日時程（6 小時）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D6B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 09:00 開課、12:00–13:00 午休為例 — 雙人雙機協作看右欄</a:t>
            </a:r>
            <a:endParaRPr lang="en-US" sz="11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8229600" cy="3328416"/>
        </p:xfrm>
        <a:graphic>
          <a:graphicData uri="http://schemas.openxmlformats.org/drawingml/2006/table">
            <a:tbl>
              <a:tblPr/>
              <a:tblGrid>
                <a:gridCol w="1234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時間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7E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節次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7E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單人雙板（依序開發）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7E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雙人雙機協作（平行開發）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7E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430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09:00–09:40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430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第1節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430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AI 協作基本功＋開場 Prompt 實作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430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同左（兩人各開自己的對話串）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430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09:40–10:30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430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第2節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430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規格書上傳→取得 AI 工作規劃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430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同左（規格書＝兩人的介面合約）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430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10:40–11:50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430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第3節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430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節點A：接線→測試→整合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430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平行：A工程師做節點A、B工程師做節點B（接線→逐模組測試）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430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11:50–13:00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430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午休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430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（上午用掉的 ChatGPT 額度會陸續回復）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430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同左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430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13:00–14:20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430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第4節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430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節點B：接線→逐模組測試→整合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430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平行：各自完成節點整合＋監控視窗驗證，先完成者預習第5節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430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14:30–15:40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430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第5節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430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Node-RED：flow→MQTT→dashboard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430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雲端對接：兩台電腦各自建 flow，經 MQTT 把 A、B 串起來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430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15:40–16:20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430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第6節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430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整合驗收＋除錯緩衝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430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同左（交叉驗收：操作對方的節點）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430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16:20–16:40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430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收尾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430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延伸挑戰＋完整版教材導覽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430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同左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" name="Shape 2"/>
          <p:cNvSpPr/>
          <p:nvPr/>
        </p:nvSpPr>
        <p:spPr>
          <a:xfrm>
            <a:off x="457200" y="4407408"/>
            <a:ext cx="8229600" cy="365760"/>
          </a:xfrm>
          <a:prstGeom prst="roundRect">
            <a:avLst>
              <a:gd name="adj" fmla="val 20000"/>
            </a:avLst>
          </a:prstGeom>
          <a:solidFill>
            <a:srgbClr val="E7F3E9"/>
          </a:solidFill>
          <a:ln/>
        </p:spPr>
      </p:sp>
      <p:sp>
        <p:nvSpPr>
          <p:cNvPr id="6" name="Shape 3"/>
          <p:cNvSpPr/>
          <p:nvPr/>
        </p:nvSpPr>
        <p:spPr>
          <a:xfrm>
            <a:off x="566928" y="4471416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2E8540"/>
          </a:solidFill>
          <a:ln/>
        </p:spPr>
      </p:sp>
      <p:sp>
        <p:nvSpPr>
          <p:cNvPr id="7" name="Text 4"/>
          <p:cNvSpPr/>
          <p:nvPr/>
        </p:nvSpPr>
        <p:spPr>
          <a:xfrm>
            <a:off x="566928" y="4471416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TIP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261872" y="4443984"/>
            <a:ext cx="7269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430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第3、4節最容易爆時間 — 卡住的組先用參考程式追進度，問題留到第6節再解。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49640" y="486460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AACB5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9456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430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講師前置準備清單（課前一天完成）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D6B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一日課的成敗，八成取決於這一頁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4023360" cy="3291840"/>
          </a:xfrm>
          <a:prstGeom prst="roundRect">
            <a:avLst>
              <a:gd name="adj" fmla="val 2500"/>
            </a:avLst>
          </a:prstGeom>
          <a:solidFill>
            <a:srgbClr val="F0F7F8"/>
          </a:solidFill>
          <a:ln/>
        </p:spPr>
      </p:sp>
      <p:sp>
        <p:nvSpPr>
          <p:cNvPr id="5" name="Text 3"/>
          <p:cNvSpPr/>
          <p:nvPr/>
        </p:nvSpPr>
        <p:spPr>
          <a:xfrm>
            <a:off x="621792" y="1115568"/>
            <a:ext cx="3694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5F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環境（每一台學員電腦）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21792" y="1463040"/>
            <a:ext cx="3694176" cy="2724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2430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Arduino IDE＋Node-RED＋node-red-node-serialport＋node-red-dashboard 都裝好、跑起來過</a:t>
            </a:r>
            <a:endParaRPr lang="en-US" sz="1050" dirty="0"/>
          </a:p>
          <a:p>
            <a:pPr marL="0" indent="0">
              <a:lnSpc>
                <a:spcPct val="122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2430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UNO 接上電腦，確認 COM 埠並貼標籤</a:t>
            </a:r>
            <a:endParaRPr lang="en-US" sz="1050" dirty="0"/>
          </a:p>
          <a:p>
            <a:pPr marL="0" indent="0">
              <a:lnSpc>
                <a:spcPct val="122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2430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本專題不需安裝任何 Arduino 函式庫（Servo 為內建）</a:t>
            </a:r>
            <a:endParaRPr lang="en-US" sz="1050" dirty="0"/>
          </a:p>
          <a:p>
            <a:pPr marL="0" indent="0">
              <a:lnSpc>
                <a:spcPct val="122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2430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測試教室網路可連 broker.emqx.io:1883（雙人雲端對接的必要條件）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663440" y="1005840"/>
            <a:ext cx="4023360" cy="3291840"/>
          </a:xfrm>
          <a:prstGeom prst="roundRect">
            <a:avLst>
              <a:gd name="adj" fmla="val 2500"/>
            </a:avLst>
          </a:prstGeom>
          <a:solidFill>
            <a:srgbClr val="F0F7F8"/>
          </a:solidFill>
          <a:ln/>
        </p:spPr>
      </p:sp>
      <p:sp>
        <p:nvSpPr>
          <p:cNvPr id="8" name="Text 6"/>
          <p:cNvSpPr/>
          <p:nvPr/>
        </p:nvSpPr>
        <p:spPr>
          <a:xfrm>
            <a:off x="4828032" y="1115568"/>
            <a:ext cx="3694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5F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材料與檔案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28032" y="1463040"/>
            <a:ext cx="3694176" cy="2724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2430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每位學員一套套件；單人雙板模式需兩套。專題用料：UNO×2、HC-SR04×1、SG90×1、紅綠LED＋220Ω、按鈕模組、4節電池盒、麵包板、杜邦線</a:t>
            </a:r>
            <a:endParaRPr lang="en-US" sz="1050" dirty="0"/>
          </a:p>
          <a:p>
            <a:pPr marL="0" indent="0">
              <a:lnSpc>
                <a:spcPct val="122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2430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發放電子檔：規格書全文＋Prompt 速查表（本教材附錄）</a:t>
            </a:r>
            <a:endParaRPr lang="en-US" sz="1050" dirty="0"/>
          </a:p>
          <a:p>
            <a:pPr marL="0" indent="0">
              <a:lnSpc>
                <a:spcPct val="122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2430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學員課前建好 ChatGPT 帳號（每人一個）</a:t>
            </a:r>
            <a:endParaRPr lang="en-US" sz="1050" dirty="0"/>
          </a:p>
          <a:p>
            <a:pPr marL="0" indent="0">
              <a:lnSpc>
                <a:spcPct val="122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2430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講師自己先完整跑過一遍專題 — 雙人模式建議與助教兩機實測過對接（強烈建議）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4225290"/>
            <a:ext cx="8229600" cy="602742"/>
          </a:xfrm>
          <a:prstGeom prst="roundRect">
            <a:avLst>
              <a:gd name="adj" fmla="val 12137"/>
            </a:avLst>
          </a:prstGeom>
          <a:solidFill>
            <a:srgbClr val="E7F3E9"/>
          </a:solidFill>
          <a:ln/>
        </p:spPr>
      </p:sp>
      <p:sp>
        <p:nvSpPr>
          <p:cNvPr id="11" name="Shape 9"/>
          <p:cNvSpPr/>
          <p:nvPr/>
        </p:nvSpPr>
        <p:spPr>
          <a:xfrm>
            <a:off x="566928" y="4407789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2E8540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4407789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TIP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261872" y="4261866"/>
            <a:ext cx="7269480" cy="5295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430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雙人分工再提醒：平行開發時「各自電腦、各自對話串、各自節點」；第5節對接後，輪流當「動手的人」與「唸驗收條件的人」。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49640" y="486460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AACB5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9456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430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免費 ChatGPT 額度怎麼用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D6B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免費版通常無法自選模型：每個 5 小時窗口的前幾則自動用最強模型，之後自動降級（同一對話串可繼續）</a:t>
            </a:r>
            <a:endParaRPr lang="en-US" sz="11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274320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提問類型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7E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建議時機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7E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說明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7E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430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規格書送審＋工作規劃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430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開課後的最初幾則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430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額度全新，自動用到最強模型 — 先問最重要的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430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接線表、單模組測試碼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430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任何時候都可以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430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例行任務，降級後的模型也足以勝任；多個需求合併成一則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430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節點整合程式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430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各額度窗口的前段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430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邏輯較複雜，趁還沒降級時一次到位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430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卡關除錯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430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先自查再提問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430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半數問題是接線與供電 — 先動手檢查再問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430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Node-RED flow 生成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430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14:30 之後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430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上午用掉的額度此時已陸續回復（5小時滾動窗口）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160520"/>
            <a:ext cx="8229600" cy="602742"/>
          </a:xfrm>
          <a:prstGeom prst="roundRect">
            <a:avLst>
              <a:gd name="adj" fmla="val 12137"/>
            </a:avLst>
          </a:prstGeom>
          <a:solidFill>
            <a:srgbClr val="E7F3E9"/>
          </a:solidFill>
          <a:ln/>
        </p:spPr>
      </p:sp>
      <p:sp>
        <p:nvSpPr>
          <p:cNvPr id="6" name="Shape 3"/>
          <p:cNvSpPr/>
          <p:nvPr/>
        </p:nvSpPr>
        <p:spPr>
          <a:xfrm>
            <a:off x="566928" y="4343019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2E8540"/>
          </a:solidFill>
          <a:ln/>
        </p:spPr>
      </p:sp>
      <p:sp>
        <p:nvSpPr>
          <p:cNvPr id="4" name="Text 4"/>
          <p:cNvSpPr/>
          <p:nvPr/>
        </p:nvSpPr>
        <p:spPr>
          <a:xfrm>
            <a:off x="566928" y="4343019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TIP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261872" y="4197096"/>
            <a:ext cx="7269480" cy="5295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430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策略就兩招：「排序」— 重要提問放在額度窗口開頭；「合併」— 例行提問併成一則。降級後照常進行，難題留到額度回復再問。雙人協作天生就是雙帳號，額度更寬裕。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49640" y="486460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AACB5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13232"/>
            <a:ext cx="2194560" cy="457200"/>
          </a:xfrm>
          <a:prstGeom prst="roundRect">
            <a:avLst>
              <a:gd name="adj" fmla="val 50000"/>
            </a:avLst>
          </a:prstGeom>
          <a:solidFill>
            <a:srgbClr val="17B8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71323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34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1 節（40分）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協作基本功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58368" y="2331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B8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本節目標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2697480"/>
            <a:ext cx="7589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450" dirty="0">
                <a:solidFill>
                  <a:srgbClr val="E8F1F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能做什麼、會在哪裡出錯，為什麼驗證永遠在你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450" dirty="0">
                <a:solidFill>
                  <a:srgbClr val="E8F1F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對話四要素：角色、脈絡、限制、輸出格式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450" dirty="0">
                <a:solidFill>
                  <a:srgbClr val="E8F1F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實作：建立專題對話串（雙人協作：兩人各建一串）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58368" y="45720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FB4B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完整版教材對應：單元 1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49640" y="486460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E8893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042416" cy="310896"/>
          </a:xfrm>
          <a:prstGeom prst="roundRect">
            <a:avLst>
              <a:gd name="adj" fmla="val 50000"/>
            </a:avLst>
          </a:prstGeom>
          <a:solidFill>
            <a:srgbClr val="0A7E8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1042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1 節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664208" y="219456"/>
            <a:ext cx="7004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430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對話四要素 × 三條鐵律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1463040" cy="457200"/>
          </a:xfrm>
          <a:prstGeom prst="roundRect">
            <a:avLst>
              <a:gd name="adj" fmla="val 18000"/>
            </a:avLst>
          </a:prstGeom>
          <a:solidFill>
            <a:srgbClr val="0A7E8C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058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角色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057400" y="1005840"/>
            <a:ext cx="6629400" cy="457200"/>
          </a:xfrm>
          <a:prstGeom prst="roundRect">
            <a:avLst>
              <a:gd name="adj" fmla="val 16000"/>
            </a:avLst>
          </a:prstGeom>
          <a:solidFill>
            <a:srgbClr val="F2F4F7"/>
          </a:solidFill>
          <a:ln/>
        </p:spPr>
      </p:sp>
      <p:sp>
        <p:nvSpPr>
          <p:cNvPr id="8" name="Text 6"/>
          <p:cNvSpPr/>
          <p:nvPr/>
        </p:nvSpPr>
        <p:spPr>
          <a:xfrm>
            <a:off x="2240280" y="1005840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430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「你是Arduino助教，我是不會寫程式的初學者」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572768"/>
            <a:ext cx="1463040" cy="457200"/>
          </a:xfrm>
          <a:prstGeom prst="roundRect">
            <a:avLst>
              <a:gd name="adj" fmla="val 18000"/>
            </a:avLst>
          </a:prstGeom>
          <a:solidFill>
            <a:srgbClr val="0A7E8C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57276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脈絡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057400" y="1572768"/>
            <a:ext cx="6629400" cy="457200"/>
          </a:xfrm>
          <a:prstGeom prst="roundRect">
            <a:avLst>
              <a:gd name="adj" fmla="val 16000"/>
            </a:avLst>
          </a:prstGeom>
          <a:solidFill>
            <a:srgbClr val="F2F4F7"/>
          </a:solidFill>
          <a:ln/>
        </p:spPr>
      </p:sp>
      <p:sp>
        <p:nvSpPr>
          <p:cNvPr id="12" name="Text 10"/>
          <p:cNvSpPr/>
          <p:nvPr/>
        </p:nvSpPr>
        <p:spPr>
          <a:xfrm>
            <a:off x="2240280" y="1572768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430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「我用UNO＋Windows＋Arduino IDE＋Node-RED」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139696"/>
            <a:ext cx="1463040" cy="457200"/>
          </a:xfrm>
          <a:prstGeom prst="roundRect">
            <a:avLst>
              <a:gd name="adj" fmla="val 18000"/>
            </a:avLst>
          </a:prstGeom>
          <a:solidFill>
            <a:srgbClr val="0A7E8C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139696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限制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057400" y="2139696"/>
            <a:ext cx="6629400" cy="457200"/>
          </a:xfrm>
          <a:prstGeom prst="roundRect">
            <a:avLst>
              <a:gd name="adj" fmla="val 16000"/>
            </a:avLst>
          </a:prstGeom>
          <a:solidFill>
            <a:srgbClr val="F2F4F7"/>
          </a:solidFill>
          <a:ln/>
        </p:spPr>
      </p:sp>
      <p:sp>
        <p:nvSpPr>
          <p:cNvPr id="16" name="Text 14"/>
          <p:cNvSpPr/>
          <p:nvPr/>
        </p:nvSpPr>
        <p:spPr>
          <a:xfrm>
            <a:off x="2240280" y="2139696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430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「只能用我的材料清單，UNO沒有WiFi」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706624"/>
            <a:ext cx="1463040" cy="457200"/>
          </a:xfrm>
          <a:prstGeom prst="roundRect">
            <a:avLst>
              <a:gd name="adj" fmla="val 18000"/>
            </a:avLst>
          </a:prstGeom>
          <a:solidFill>
            <a:srgbClr val="0A7E8C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2706624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④ 輸出格式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057400" y="2706624"/>
            <a:ext cx="6629400" cy="457200"/>
          </a:xfrm>
          <a:prstGeom prst="roundRect">
            <a:avLst>
              <a:gd name="adj" fmla="val 16000"/>
            </a:avLst>
          </a:prstGeom>
          <a:solidFill>
            <a:srgbClr val="F2F4F7"/>
          </a:solidFill>
          <a:ln/>
        </p:spPr>
      </p:sp>
      <p:sp>
        <p:nvSpPr>
          <p:cNvPr id="20" name="Text 18"/>
          <p:cNvSpPr/>
          <p:nvPr/>
        </p:nvSpPr>
        <p:spPr>
          <a:xfrm>
            <a:off x="2240280" y="2706624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430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「接線用表格、程式加中文註解、附驗證方法」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429000"/>
            <a:ext cx="8229600" cy="402336"/>
          </a:xfrm>
          <a:prstGeom prst="roundRect">
            <a:avLst>
              <a:gd name="adj" fmla="val 18182"/>
            </a:avLst>
          </a:prstGeom>
          <a:solidFill>
            <a:srgbClr val="F7FAFB"/>
          </a:solidFill>
          <a:ln/>
        </p:spPr>
      </p:sp>
      <p:sp>
        <p:nvSpPr>
          <p:cNvPr id="22" name="Text 20"/>
          <p:cNvSpPr/>
          <p:nvPr/>
        </p:nvSpPr>
        <p:spPr>
          <a:xfrm>
            <a:off x="621792" y="3429000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B337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鐵律 1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1600200" y="3429000"/>
            <a:ext cx="6949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430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一個節點一個對話串，貫穿全程 — AI 才記得你的規格與進度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57200" y="3904488"/>
            <a:ext cx="8229600" cy="402336"/>
          </a:xfrm>
          <a:prstGeom prst="roundRect">
            <a:avLst>
              <a:gd name="adj" fmla="val 18182"/>
            </a:avLst>
          </a:prstGeom>
          <a:solidFill>
            <a:srgbClr val="E7F3E9"/>
          </a:solidFill>
          <a:ln/>
        </p:spPr>
      </p:sp>
      <p:sp>
        <p:nvSpPr>
          <p:cNvPr id="25" name="Text 23"/>
          <p:cNvSpPr/>
          <p:nvPr/>
        </p:nvSpPr>
        <p:spPr>
          <a:xfrm>
            <a:off x="621792" y="3904488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B337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鐵律 2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1600200" y="3904488"/>
            <a:ext cx="6949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430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的每個產出都要驗證：編譯過、上傳過、動作對，才算數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57200" y="4379976"/>
            <a:ext cx="8229600" cy="402336"/>
          </a:xfrm>
          <a:prstGeom prst="roundRect">
            <a:avLst>
              <a:gd name="adj" fmla="val 18182"/>
            </a:avLst>
          </a:prstGeom>
          <a:solidFill>
            <a:srgbClr val="F7FAFB"/>
          </a:solidFill>
          <a:ln/>
        </p:spPr>
      </p:sp>
      <p:sp>
        <p:nvSpPr>
          <p:cNvPr id="28" name="Text 26"/>
          <p:cNvSpPr/>
          <p:nvPr/>
        </p:nvSpPr>
        <p:spPr>
          <a:xfrm>
            <a:off x="621792" y="4379976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B337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鐵律 3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1600200" y="4379976"/>
            <a:ext cx="6949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430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回報問題時，錯誤訊息永遠「全文照貼」，不要自己摘要</a:t>
            </a:r>
            <a:endParaRPr lang="en-US" sz="115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49640" y="486460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AACB5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042416" cy="310896"/>
          </a:xfrm>
          <a:prstGeom prst="roundRect">
            <a:avLst>
              <a:gd name="adj" fmla="val 50000"/>
            </a:avLst>
          </a:prstGeom>
          <a:solidFill>
            <a:srgbClr val="0A7E8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1042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1 節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664208" y="219456"/>
            <a:ext cx="7004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430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同一個需求，兩種問法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603504" cy="292608"/>
          </a:xfrm>
          <a:prstGeom prst="roundRect">
            <a:avLst>
              <a:gd name="adj" fmla="val 50000"/>
            </a:avLst>
          </a:prstGeom>
          <a:solidFill>
            <a:srgbClr val="B3372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14400"/>
            <a:ext cx="603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✗ 模糊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1261872"/>
            <a:ext cx="566928" cy="351495"/>
          </a:xfrm>
          <a:prstGeom prst="ellipse">
            <a:avLst/>
          </a:prstGeom>
          <a:solidFill>
            <a:srgbClr val="0A7E8C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261872"/>
            <a:ext cx="566928" cy="351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學員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161288" y="1261872"/>
            <a:ext cx="7525512" cy="384048"/>
          </a:xfrm>
          <a:prstGeom prst="roundRect">
            <a:avLst>
              <a:gd name="adj" fmla="val 19048"/>
            </a:avLst>
          </a:prstGeom>
          <a:solidFill>
            <a:srgbClr val="DCEFEA"/>
          </a:solidFill>
          <a:ln/>
        </p:spPr>
      </p:sp>
      <p:sp>
        <p:nvSpPr>
          <p:cNvPr id="10" name="Text 8"/>
          <p:cNvSpPr/>
          <p:nvPr/>
        </p:nvSpPr>
        <p:spPr>
          <a:xfrm>
            <a:off x="1280160" y="1316736"/>
            <a:ext cx="7287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430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幫我做停車場偵測。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1773936"/>
            <a:ext cx="566928" cy="351495"/>
          </a:xfrm>
          <a:prstGeom prst="ellipse">
            <a:avLst/>
          </a:prstGeom>
          <a:solidFill>
            <a:srgbClr val="1C4956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1773936"/>
            <a:ext cx="566928" cy="351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1161288" y="1773936"/>
            <a:ext cx="7525512" cy="384048"/>
          </a:xfrm>
          <a:prstGeom prst="roundRect">
            <a:avLst>
              <a:gd name="adj" fmla="val 19048"/>
            </a:avLst>
          </a:prstGeom>
          <a:solidFill>
            <a:srgbClr val="F2F4F7"/>
          </a:solidFill>
          <a:ln/>
        </p:spPr>
      </p:sp>
      <p:sp>
        <p:nvSpPr>
          <p:cNvPr id="14" name="Text 12"/>
          <p:cNvSpPr/>
          <p:nvPr/>
        </p:nvSpPr>
        <p:spPr>
          <a:xfrm>
            <a:off x="1280160" y="1828800"/>
            <a:ext cx="7287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430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建議使用 ESP32 搭配地磁感測器…（跟你手上的硬體完全無關）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2514600"/>
            <a:ext cx="1481328" cy="292608"/>
          </a:xfrm>
          <a:prstGeom prst="roundRect">
            <a:avLst>
              <a:gd name="adj" fmla="val 50000"/>
            </a:avLst>
          </a:prstGeom>
          <a:solidFill>
            <a:srgbClr val="2E8540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514600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 精準（含四要素）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2862072"/>
            <a:ext cx="566928" cy="351495"/>
          </a:xfrm>
          <a:prstGeom prst="ellipse">
            <a:avLst/>
          </a:prstGeom>
          <a:solidFill>
            <a:srgbClr val="0A7E8C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2862072"/>
            <a:ext cx="566928" cy="351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學員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1161288" y="2862072"/>
            <a:ext cx="7525512" cy="577977"/>
          </a:xfrm>
          <a:prstGeom prst="roundRect">
            <a:avLst>
              <a:gd name="adj" fmla="val 12657"/>
            </a:avLst>
          </a:prstGeom>
          <a:solidFill>
            <a:srgbClr val="DCEFEA"/>
          </a:solidFill>
          <a:ln/>
        </p:spPr>
      </p:sp>
      <p:sp>
        <p:nvSpPr>
          <p:cNvPr id="20" name="Text 18"/>
          <p:cNvSpPr/>
          <p:nvPr/>
        </p:nvSpPr>
        <p:spPr>
          <a:xfrm>
            <a:off x="1280160" y="2916936"/>
            <a:ext cx="7287768" cy="468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430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你是Arduino助教，我是初學者。我用UNO＋HC-SR04（Trig=D9、Echo=D10）偵測車位：距離&lt;10cm視為有車。請給接線表（表格）與測試程式（中文註解），並告訴我上傳後如何驗證。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" y="3568065"/>
            <a:ext cx="566928" cy="351495"/>
          </a:xfrm>
          <a:prstGeom prst="ellipse">
            <a:avLst/>
          </a:prstGeom>
          <a:solidFill>
            <a:srgbClr val="1C4956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568065"/>
            <a:ext cx="566928" cy="351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1161288" y="3568065"/>
            <a:ext cx="7525512" cy="384048"/>
          </a:xfrm>
          <a:prstGeom prst="roundRect">
            <a:avLst>
              <a:gd name="adj" fmla="val 19048"/>
            </a:avLst>
          </a:prstGeom>
          <a:solidFill>
            <a:srgbClr val="F2F4F7"/>
          </a:solidFill>
          <a:ln/>
        </p:spPr>
      </p:sp>
      <p:sp>
        <p:nvSpPr>
          <p:cNvPr id="24" name="Text 22"/>
          <p:cNvSpPr/>
          <p:nvPr/>
        </p:nvSpPr>
        <p:spPr>
          <a:xfrm>
            <a:off x="1280160" y="3622929"/>
            <a:ext cx="7287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430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好的！接線表如下…程式如下…驗證：手放10cm處，監控視窗讀值應為9~11…（可直接照做）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57200" y="4462272"/>
            <a:ext cx="8229600" cy="365760"/>
          </a:xfrm>
          <a:prstGeom prst="roundRect">
            <a:avLst>
              <a:gd name="adj" fmla="val 20000"/>
            </a:avLst>
          </a:prstGeom>
          <a:solidFill>
            <a:srgbClr val="E7F3E9"/>
          </a:solidFill>
          <a:ln/>
        </p:spPr>
      </p:sp>
      <p:sp>
        <p:nvSpPr>
          <p:cNvPr id="26" name="Shape 24"/>
          <p:cNvSpPr/>
          <p:nvPr/>
        </p:nvSpPr>
        <p:spPr>
          <a:xfrm>
            <a:off x="566928" y="4526280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2E8540"/>
          </a:solidFill>
          <a:ln/>
        </p:spPr>
      </p:sp>
      <p:sp>
        <p:nvSpPr>
          <p:cNvPr id="27" name="Text 25"/>
          <p:cNvSpPr/>
          <p:nvPr/>
        </p:nvSpPr>
        <p:spPr>
          <a:xfrm>
            <a:off x="566928" y="4526280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TIP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261872" y="4498848"/>
            <a:ext cx="7269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430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差別不是客氣，是「資訊完整」。今天每一次提問前，心中默念：角色、脈絡、限制、輸出格式。</a:t>
            </a:r>
            <a:endParaRPr lang="en-US" sz="115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49640" y="486460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AACB5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96112" cy="310896"/>
          </a:xfrm>
          <a:prstGeom prst="roundRect">
            <a:avLst>
              <a:gd name="adj" fmla="val 50000"/>
            </a:avLst>
          </a:prstGeom>
          <a:solidFill>
            <a:srgbClr val="0A7E8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896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實作 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517904" y="219456"/>
            <a:ext cx="7150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430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建立專題對話串（10 分鐘）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75488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D6B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雙人協作：兩人「各自」執行本頁 — A、B 工程師各有自己的對話串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8229600" cy="2060448"/>
          </a:xfrm>
          <a:prstGeom prst="roundRect">
            <a:avLst>
              <a:gd name="adj" fmla="val 3994"/>
            </a:avLst>
          </a:prstGeom>
          <a:solidFill>
            <a:srgbClr val="F4FAF9"/>
          </a:solidFill>
          <a:ln w="15875">
            <a:solidFill>
              <a:srgbClr val="0A7E8C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640080" y="1188720"/>
            <a:ext cx="2505456" cy="292608"/>
          </a:xfrm>
          <a:prstGeom prst="roundRect">
            <a:avLst>
              <a:gd name="adj" fmla="val 50000"/>
            </a:avLst>
          </a:prstGeom>
          <a:solidFill>
            <a:srgbClr val="0A7E8C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188720"/>
            <a:ext cx="2505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開場 Prompt（發放電子檔）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58368" y="1508760"/>
            <a:ext cx="7827264" cy="1767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430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你是一位資深物聯網工程師與有耐心的教學助教。我是 Arduino 初學者，不熟 C++，請用繁體中文、白話協助我完成專題。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430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環境：Arduino UNO（無WiFi，以USB接Windows電腦，序列埠115200bps）、Arduino IDE、電腦執行Node-RED當閘道（node-red-node-serialport），以MQTT連broker.emqx.io:1883，介面用node-red-dashboard。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430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原則：(1)只能用我提供的材料 (2)程式加中文註解 (3)接線用表格 (4)每步驟附驗證方法。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430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（雙人協作加這句）本專題有兩個節點，分別接在兩台電腦上。我負責〔節點A／節點B〕與我這台電腦的閘道，隊友負責另一個節點，雙方透過 MQTT 交換資料。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430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接下來我會貼上專題規格書，請先確認理解再開始。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886200"/>
            <a:ext cx="8229600" cy="804672"/>
          </a:xfrm>
          <a:prstGeom prst="roundRect">
            <a:avLst>
              <a:gd name="adj" fmla="val 10227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3995928"/>
            <a:ext cx="7900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5F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操作步驟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21792" y="4343400"/>
            <a:ext cx="7900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2430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開新對話串，命名「停車場-節點A」或「停車場-節點B」 ② 貼上開場 Prompt ③ 確認 AI 回覆有複述你的環境與角色分工 — 沒有就要求它複述。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49640" y="486460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AACB5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13232"/>
            <a:ext cx="2194560" cy="457200"/>
          </a:xfrm>
          <a:prstGeom prst="roundRect">
            <a:avLst>
              <a:gd name="adj" fmla="val 50000"/>
            </a:avLst>
          </a:prstGeom>
          <a:solidFill>
            <a:srgbClr val="17B8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71323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34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2 節（50分）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規格書：今天的施工藍圖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58368" y="2331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B8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本節目標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2697480"/>
            <a:ext cx="7589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450" dirty="0">
                <a:solidFill>
                  <a:srgbClr val="E8F1F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了解規格書七項目 — 為什麼 AI 需要它們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450" dirty="0">
                <a:solidFill>
                  <a:srgbClr val="E8F1F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實作：上傳規格書，取得 AI 的工作步驟規劃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450" dirty="0">
                <a:solidFill>
                  <a:srgbClr val="E8F1F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雙人協作：規格書就是兩人的「介面合約」— 一起逐條讀過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58368" y="45720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FB4B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完整版教材對應：單元 2（課後務必細讀 — 這是自訂專題的核心能力）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49640" y="486460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E8893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042416" cy="310896"/>
          </a:xfrm>
          <a:prstGeom prst="roundRect">
            <a:avLst>
              <a:gd name="adj" fmla="val 50000"/>
            </a:avLst>
          </a:prstGeom>
          <a:solidFill>
            <a:srgbClr val="0A7E8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1042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2 節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664208" y="219456"/>
            <a:ext cx="7004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430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規格書七項目速覽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75488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D6B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今天的規格書已為你寫好 — 但你要看懂每一項的作用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57200" y="932688"/>
            <a:ext cx="4069080" cy="768096"/>
          </a:xfrm>
          <a:prstGeom prst="roundRect">
            <a:avLst>
              <a:gd name="adj" fmla="val 10714"/>
            </a:avLst>
          </a:prstGeom>
          <a:solidFill>
            <a:srgbClr val="F0F7F8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1106424"/>
            <a:ext cx="420624" cy="420624"/>
          </a:xfrm>
          <a:prstGeom prst="ellipse">
            <a:avLst/>
          </a:prstGeom>
          <a:solidFill>
            <a:srgbClr val="0A7E8C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1064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15568" y="10058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430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情境與目標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15568" y="135331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6B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據此判斷所有設計取捨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1773936"/>
            <a:ext cx="4069080" cy="768096"/>
          </a:xfrm>
          <a:prstGeom prst="roundRect">
            <a:avLst>
              <a:gd name="adj" fmla="val 10714"/>
            </a:avLst>
          </a:prstGeom>
          <a:solidFill>
            <a:srgbClr val="F0F7F8"/>
          </a:solidFill>
          <a:ln/>
        </p:spPr>
      </p:sp>
      <p:sp>
        <p:nvSpPr>
          <p:cNvPr id="12" name="Shape 10"/>
          <p:cNvSpPr/>
          <p:nvPr/>
        </p:nvSpPr>
        <p:spPr>
          <a:xfrm>
            <a:off x="566928" y="1947672"/>
            <a:ext cx="420624" cy="420624"/>
          </a:xfrm>
          <a:prstGeom prst="ellipse">
            <a:avLst/>
          </a:prstGeom>
          <a:solidFill>
            <a:srgbClr val="0A7E8C"/>
          </a:solidFill>
          <a:ln/>
        </p:spPr>
      </p:sp>
      <p:sp>
        <p:nvSpPr>
          <p:cNvPr id="13" name="Text 11"/>
          <p:cNvSpPr/>
          <p:nvPr/>
        </p:nvSpPr>
        <p:spPr>
          <a:xfrm>
            <a:off x="566928" y="19476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15568" y="184708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430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節點與模組（精確型號）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15568" y="219456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6B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寫 HC-SR04，不寫「超音波感測器」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615184"/>
            <a:ext cx="4069080" cy="768096"/>
          </a:xfrm>
          <a:prstGeom prst="roundRect">
            <a:avLst>
              <a:gd name="adj" fmla="val 10714"/>
            </a:avLst>
          </a:prstGeom>
          <a:solidFill>
            <a:srgbClr val="F0F7F8"/>
          </a:solidFill>
          <a:ln/>
        </p:spPr>
      </p:sp>
      <p:sp>
        <p:nvSpPr>
          <p:cNvPr id="17" name="Shape 15"/>
          <p:cNvSpPr/>
          <p:nvPr/>
        </p:nvSpPr>
        <p:spPr>
          <a:xfrm>
            <a:off x="566928" y="2788920"/>
            <a:ext cx="420624" cy="420624"/>
          </a:xfrm>
          <a:prstGeom prst="ellipse">
            <a:avLst/>
          </a:prstGeom>
          <a:solidFill>
            <a:srgbClr val="0A7E8C"/>
          </a:solidFill>
          <a:ln/>
        </p:spPr>
      </p:sp>
      <p:sp>
        <p:nvSpPr>
          <p:cNvPr id="18" name="Text 16"/>
          <p:cNvSpPr/>
          <p:nvPr/>
        </p:nvSpPr>
        <p:spPr>
          <a:xfrm>
            <a:off x="566928" y="2788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15568" y="268833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430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系統架構限制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15568" y="303580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6B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不寫，AI 就會給 ESP32/WiFi 方案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456432"/>
            <a:ext cx="4069080" cy="768096"/>
          </a:xfrm>
          <a:prstGeom prst="roundRect">
            <a:avLst>
              <a:gd name="adj" fmla="val 10714"/>
            </a:avLst>
          </a:prstGeom>
          <a:solidFill>
            <a:srgbClr val="F0F7F8"/>
          </a:solidFill>
          <a:ln/>
        </p:spPr>
      </p:sp>
      <p:sp>
        <p:nvSpPr>
          <p:cNvPr id="22" name="Shape 20"/>
          <p:cNvSpPr/>
          <p:nvPr/>
        </p:nvSpPr>
        <p:spPr>
          <a:xfrm>
            <a:off x="566928" y="3630168"/>
            <a:ext cx="420624" cy="420624"/>
          </a:xfrm>
          <a:prstGeom prst="ellipse">
            <a:avLst/>
          </a:prstGeom>
          <a:solidFill>
            <a:srgbClr val="0A7E8C"/>
          </a:solidFill>
          <a:ln/>
        </p:spPr>
      </p:sp>
      <p:sp>
        <p:nvSpPr>
          <p:cNvPr id="23" name="Text 21"/>
          <p:cNvSpPr/>
          <p:nvPr/>
        </p:nvSpPr>
        <p:spPr>
          <a:xfrm>
            <a:off x="566928" y="36301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115568" y="352958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430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資料流與格式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115568" y="3877056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6B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JSON 與 topic ＝ 雙人的介面合約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09160" y="932688"/>
            <a:ext cx="4069080" cy="768096"/>
          </a:xfrm>
          <a:prstGeom prst="roundRect">
            <a:avLst>
              <a:gd name="adj" fmla="val 10714"/>
            </a:avLst>
          </a:prstGeom>
          <a:solidFill>
            <a:srgbClr val="F0F7F8"/>
          </a:solidFill>
          <a:ln/>
        </p:spPr>
      </p:sp>
      <p:sp>
        <p:nvSpPr>
          <p:cNvPr id="27" name="Shape 25"/>
          <p:cNvSpPr/>
          <p:nvPr/>
        </p:nvSpPr>
        <p:spPr>
          <a:xfrm>
            <a:off x="4818888" y="1106424"/>
            <a:ext cx="420624" cy="420624"/>
          </a:xfrm>
          <a:prstGeom prst="ellipse">
            <a:avLst/>
          </a:prstGeom>
          <a:solidFill>
            <a:srgbClr val="0A7E8C"/>
          </a:solidFill>
          <a:ln/>
        </p:spPr>
      </p:sp>
      <p:sp>
        <p:nvSpPr>
          <p:cNvPr id="28" name="Text 26"/>
          <p:cNvSpPr/>
          <p:nvPr/>
        </p:nvSpPr>
        <p:spPr>
          <a:xfrm>
            <a:off x="4818888" y="11064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5367528" y="10058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430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節點協同邏輯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367528" y="135331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6B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「當…時，節點X要…」句型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09160" y="1773936"/>
            <a:ext cx="4069080" cy="768096"/>
          </a:xfrm>
          <a:prstGeom prst="roundRect">
            <a:avLst>
              <a:gd name="adj" fmla="val 10714"/>
            </a:avLst>
          </a:prstGeom>
          <a:solidFill>
            <a:srgbClr val="F0F7F8"/>
          </a:solidFill>
          <a:ln/>
        </p:spPr>
      </p:sp>
      <p:sp>
        <p:nvSpPr>
          <p:cNvPr id="32" name="Shape 30"/>
          <p:cNvSpPr/>
          <p:nvPr/>
        </p:nvSpPr>
        <p:spPr>
          <a:xfrm>
            <a:off x="4818888" y="1947672"/>
            <a:ext cx="420624" cy="420624"/>
          </a:xfrm>
          <a:prstGeom prst="ellipse">
            <a:avLst/>
          </a:prstGeom>
          <a:solidFill>
            <a:srgbClr val="0A7E8C"/>
          </a:solidFill>
          <a:ln/>
        </p:spPr>
      </p:sp>
      <p:sp>
        <p:nvSpPr>
          <p:cNvPr id="33" name="Text 31"/>
          <p:cNvSpPr/>
          <p:nvPr/>
        </p:nvSpPr>
        <p:spPr>
          <a:xfrm>
            <a:off x="4818888" y="19476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5367528" y="184708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430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人機介面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367528" y="219456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6B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dashboard 顯示什麼、控制什麼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709160" y="2615184"/>
            <a:ext cx="4069080" cy="768096"/>
          </a:xfrm>
          <a:prstGeom prst="roundRect">
            <a:avLst>
              <a:gd name="adj" fmla="val 10714"/>
            </a:avLst>
          </a:prstGeom>
          <a:solidFill>
            <a:srgbClr val="F0F7F8"/>
          </a:solidFill>
          <a:ln/>
        </p:spPr>
      </p:sp>
      <p:sp>
        <p:nvSpPr>
          <p:cNvPr id="37" name="Shape 35"/>
          <p:cNvSpPr/>
          <p:nvPr/>
        </p:nvSpPr>
        <p:spPr>
          <a:xfrm>
            <a:off x="4818888" y="2788920"/>
            <a:ext cx="420624" cy="420624"/>
          </a:xfrm>
          <a:prstGeom prst="ellipse">
            <a:avLst/>
          </a:prstGeom>
          <a:solidFill>
            <a:srgbClr val="0A7E8C"/>
          </a:solidFill>
          <a:ln/>
        </p:spPr>
      </p:sp>
      <p:sp>
        <p:nvSpPr>
          <p:cNvPr id="38" name="Text 36"/>
          <p:cNvSpPr/>
          <p:nvPr/>
        </p:nvSpPr>
        <p:spPr>
          <a:xfrm>
            <a:off x="4818888" y="2788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5367528" y="268833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430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驗收標準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5367528" y="303580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6B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可打勾的測試句 — 下午照著驗收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57200" y="4462272"/>
            <a:ext cx="8229600" cy="365760"/>
          </a:xfrm>
          <a:prstGeom prst="roundRect">
            <a:avLst>
              <a:gd name="adj" fmla="val 20000"/>
            </a:avLst>
          </a:prstGeom>
          <a:solidFill>
            <a:srgbClr val="E7F3E9"/>
          </a:solidFill>
          <a:ln/>
        </p:spPr>
      </p:sp>
      <p:sp>
        <p:nvSpPr>
          <p:cNvPr id="42" name="Shape 40"/>
          <p:cNvSpPr/>
          <p:nvPr/>
        </p:nvSpPr>
        <p:spPr>
          <a:xfrm>
            <a:off x="566928" y="4526280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2E8540"/>
          </a:solidFill>
          <a:ln/>
        </p:spPr>
      </p:sp>
      <p:sp>
        <p:nvSpPr>
          <p:cNvPr id="43" name="Text 41"/>
          <p:cNvSpPr/>
          <p:nvPr/>
        </p:nvSpPr>
        <p:spPr>
          <a:xfrm>
            <a:off x="566928" y="4526280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TIP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261872" y="4498848"/>
            <a:ext cx="7269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430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自訂專題時，這七項就是你要自己寫的 — 完整版教材單元 2 有逐項教學與模板。</a:t>
            </a:r>
            <a:endParaRPr lang="en-US" sz="1150" dirty="0"/>
          </a:p>
        </p:txBody>
      </p:sp>
      <p:sp>
        <p:nvSpPr>
          <p:cNvPr id="4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49640" y="486460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AACB5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042416" cy="310896"/>
          </a:xfrm>
          <a:prstGeom prst="roundRect">
            <a:avLst>
              <a:gd name="adj" fmla="val 50000"/>
            </a:avLst>
          </a:prstGeom>
          <a:solidFill>
            <a:srgbClr val="0A7E8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1042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2 節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664208" y="219456"/>
            <a:ext cx="7004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430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今日專題規格書（1/2）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75488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D6B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電子檔已發放 — 這兩頁供對照講解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57200" y="1207008"/>
            <a:ext cx="8229600" cy="2860548"/>
          </a:xfrm>
          <a:prstGeom prst="roundRect">
            <a:avLst>
              <a:gd name="adj" fmla="val 2877"/>
            </a:avLst>
          </a:prstGeom>
          <a:solidFill>
            <a:srgbClr val="F4FAF9"/>
          </a:solidFill>
          <a:ln w="15875">
            <a:solidFill>
              <a:srgbClr val="0A7E8C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640080" y="1069848"/>
            <a:ext cx="1920240" cy="292608"/>
          </a:xfrm>
          <a:prstGeom prst="roundRect">
            <a:avLst>
              <a:gd name="adj" fmla="val 50000"/>
            </a:avLst>
          </a:prstGeom>
          <a:solidFill>
            <a:srgbClr val="0A7E8C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06984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規格書 1/2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58368" y="1389888"/>
            <a:ext cx="7827264" cy="2567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2430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## 專題名稱：單車位智慧停車場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2430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## 1. 情境與目標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2430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模擬單一車位的停車場：即時偵測車位是否被占用；車位空時入口綠燈亮，來車（以按鈕模擬）可開柵欄進場；占用時紅燈亮、柵欄不開；管理員可在網頁監看並手動開閘。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2430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## 2. 節點與模組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2430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節點A（車位感測）：Arduino UNO×1；HC-SR04×1（距離&lt;10cm=占用）。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2430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節點B（出入口）：Arduino UNO×1；SG90伺服馬達（柵欄0°關/90°開，外部4節電池盒供電並與UNO共地）；綠LED＋紅LED（各串220Ω）；按鈕模組（模擬入口來車）。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2430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材料限制：只能使用上述零件與麵包板、杜邦線。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2430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## 3. 系統架構限制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2430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UNO無網路；每片UNO以USB接Windows電腦（115200bps）— 單人模式兩片接同一台電腦；雙人協作模式各接自己的電腦。每台電腦跑Node-RED當閘道（node-red-node-serialport），以MQTT連broker.emqx.io:1883交換資料；介面用node-red-dashboard。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49640" y="486460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AACB5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042416" cy="310896"/>
          </a:xfrm>
          <a:prstGeom prst="roundRect">
            <a:avLst>
              <a:gd name="adj" fmla="val 50000"/>
            </a:avLst>
          </a:prstGeom>
          <a:solidFill>
            <a:srgbClr val="0A7E8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1042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2 節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664208" y="219456"/>
            <a:ext cx="7004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430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今日專題規格書（2/2）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8229600" cy="2736723"/>
          </a:xfrm>
          <a:prstGeom prst="roundRect">
            <a:avLst>
              <a:gd name="adj" fmla="val 3007"/>
            </a:avLst>
          </a:prstGeom>
          <a:solidFill>
            <a:srgbClr val="F4FAF9"/>
          </a:solidFill>
          <a:ln w="15875">
            <a:solidFill>
              <a:srgbClr val="0A7E8C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640080" y="1033272"/>
            <a:ext cx="1920240" cy="292608"/>
          </a:xfrm>
          <a:prstGeom prst="roundRect">
            <a:avLst>
              <a:gd name="adj" fmla="val 50000"/>
            </a:avLst>
          </a:prstGeom>
          <a:solidFill>
            <a:srgbClr val="0A7E8C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03327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規格書 2/2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58368" y="1353312"/>
            <a:ext cx="7827264" cy="24441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2430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## 4. 資料流與格式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2430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節點A：每2秒量測，狀態改變時上行一行JSON：{"node":"A","occ":1}；另每10秒送一次心跳。topic：class-parking/nodeA/status（class請換成組別代號避免撞名）。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2430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節點B：接收命令 {"cmd":"status","occ":0} 與 {"cmd":"gate","act":"open"}；topic：class-parking/nodeB/cmd。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2430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## 5. 節點協同邏輯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2430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規則1：A的occ改變→B更新燈號（occ=0綠燈、occ=1紅燈）。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2430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規則2：B按鈕按下：綠燈時→開柵欄5秒自動關；紅燈時→紅燈快閃3次，不開。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2430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規則3：網頁「手動開閘」→B無條件開柵欄一次。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2430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## 6. 人機介面：車位狀態指示（綠=空/紅=占用）、手動開閘按鈕。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2430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## 7. 驗收標準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2430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(1)遮住感測器→2秒內B紅燈亮、網頁變紅 (2)空位時按按鈕→柵欄開5秒自動關 (3)占用時按按鈕→不開且紅燈快閃 (4)網頁手動開閘→柵欄開一次 (5)拔掉A的USB再接回→30秒內恢復。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2430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## 請你輸出：請先只給「工作步驟規劃」（含每階段驗證方式），等我確認後再逐階段進行。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49640" y="486460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AACB5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l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96112" cy="310896"/>
          </a:xfrm>
          <a:prstGeom prst="roundRect">
            <a:avLst>
              <a:gd name="adj" fmla="val 50000"/>
            </a:avLst>
          </a:prstGeom>
          <a:solidFill>
            <a:srgbClr val="0A7E8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896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實作 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517904" y="219456"/>
            <a:ext cx="7150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430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上傳規格書 → 確認工作規劃（30 分鐘）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75488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D6B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雙人協作：兩人各自上傳同一份規格書到自己的對話串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566928" cy="351495"/>
          </a:xfrm>
          <a:prstGeom prst="ellipse">
            <a:avLst/>
          </a:prstGeom>
          <a:solidFill>
            <a:srgbClr val="0A7E8C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05840"/>
            <a:ext cx="566928" cy="351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學員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161288" y="1005840"/>
            <a:ext cx="7525512" cy="384048"/>
          </a:xfrm>
          <a:prstGeom prst="roundRect">
            <a:avLst>
              <a:gd name="adj" fmla="val 19048"/>
            </a:avLst>
          </a:prstGeom>
          <a:solidFill>
            <a:srgbClr val="DCEFEA"/>
          </a:solidFill>
          <a:ln/>
        </p:spPr>
      </p:sp>
      <p:sp>
        <p:nvSpPr>
          <p:cNvPr id="9" name="Text 7"/>
          <p:cNvSpPr/>
          <p:nvPr/>
        </p:nvSpPr>
        <p:spPr>
          <a:xfrm>
            <a:off x="1280160" y="1060704"/>
            <a:ext cx="7287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430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（貼上規格書全文）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1517904"/>
            <a:ext cx="566928" cy="351495"/>
          </a:xfrm>
          <a:prstGeom prst="ellipse">
            <a:avLst/>
          </a:prstGeom>
          <a:solidFill>
            <a:srgbClr val="1C4956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517904"/>
            <a:ext cx="566928" cy="351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161288" y="1517904"/>
            <a:ext cx="7525512" cy="577977"/>
          </a:xfrm>
          <a:prstGeom prst="roundRect">
            <a:avLst>
              <a:gd name="adj" fmla="val 12657"/>
            </a:avLst>
          </a:prstGeom>
          <a:solidFill>
            <a:srgbClr val="F2F4F7"/>
          </a:solidFill>
          <a:ln/>
        </p:spPr>
      </p:sp>
      <p:sp>
        <p:nvSpPr>
          <p:cNvPr id="13" name="Text 11"/>
          <p:cNvSpPr/>
          <p:nvPr/>
        </p:nvSpPr>
        <p:spPr>
          <a:xfrm>
            <a:off x="1280160" y="1572768"/>
            <a:ext cx="7287768" cy="468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430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我已理解。兩點提醒：(1) SG90 務必外部供電＋共地，否則動作瞬間可能讓 UNO 重開機 (2) 建議心跳機制對應驗收(5)。工作步驟規劃：M1 節點A → M2 節點B → M3 Node-RED → M4 驗收…</a:t>
            </a:r>
            <a:endParaRPr lang="en-US" sz="10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514600"/>
          <a:ext cx="8229600" cy="1828800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里程碑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7E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內容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7E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單人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7E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雙人雙機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7E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430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M1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430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節點A：接線→測試→整合（JSON上行）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430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第3節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430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A工程師｜第3~4節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430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M2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430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節點B：接線→逐模組測試→整合（收命令）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430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第4節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430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B工程師｜第3~4節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430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M3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430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Node-RED：flow→MQTT→規則→dashboard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430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第5節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430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雲端對接｜第5節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430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M4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430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整合驗收：跑完 5 條驗收標準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430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第6節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430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交叉驗收｜第6節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>
            <a:off x="457200" y="4325112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E7F3E9"/>
          </a:solidFill>
          <a:ln/>
        </p:spPr>
      </p:sp>
      <p:sp>
        <p:nvSpPr>
          <p:cNvPr id="14" name="Shape 13"/>
          <p:cNvSpPr/>
          <p:nvPr/>
        </p:nvSpPr>
        <p:spPr>
          <a:xfrm>
            <a:off x="566928" y="4457700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2E8540"/>
          </a:solidFill>
          <a:ln/>
        </p:spPr>
      </p:sp>
      <p:sp>
        <p:nvSpPr>
          <p:cNvPr id="17" name="Text 14"/>
          <p:cNvSpPr/>
          <p:nvPr/>
        </p:nvSpPr>
        <p:spPr>
          <a:xfrm>
            <a:off x="566928" y="4457700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TIP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261872" y="4361688"/>
            <a:ext cx="7269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430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雙人協作請在對話串加問一句：「我只負責節點〔A/B〕與我這台電腦的閘道，請把工作規劃聚焦在我的部分，另一節點只需說明介面。」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49640" y="486460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AACB5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l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13232"/>
            <a:ext cx="2194560" cy="457200"/>
          </a:xfrm>
          <a:prstGeom prst="roundRect">
            <a:avLst>
              <a:gd name="adj" fmla="val 50000"/>
            </a:avLst>
          </a:prstGeom>
          <a:solidFill>
            <a:srgbClr val="17B8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71323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34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3 節（70分）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動工：節點A（單人）／平行開發（雙人）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58368" y="2331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B8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本節目標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2697480"/>
            <a:ext cx="7589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450" dirty="0">
                <a:solidFill>
                  <a:srgbClr val="E8F1F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單人雙板：本節完成節點A（接線→測試→整合）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450" dirty="0">
                <a:solidFill>
                  <a:srgbClr val="E8F1F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雙人雙機：A、B 工程師同時動工 — A 照本節、B 直接翻到第4節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450" dirty="0">
                <a:solidFill>
                  <a:srgbClr val="E8F1F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共同鐵律：斷電接線、每步驗證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58368" y="45720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FB4B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完整版教材對應：單元 3、4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49640" y="486460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E8893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l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042416" cy="310896"/>
          </a:xfrm>
          <a:prstGeom prst="roundRect">
            <a:avLst>
              <a:gd name="adj" fmla="val 50000"/>
            </a:avLst>
          </a:prstGeom>
          <a:solidFill>
            <a:srgbClr val="0A7E8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1042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實作 3a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664208" y="219456"/>
            <a:ext cx="7004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430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節點A 接線（20 分鐘）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777240"/>
          </a:xfrm>
          <a:prstGeom prst="roundRect">
            <a:avLst>
              <a:gd name="adj" fmla="val 10588"/>
            </a:avLst>
          </a:prstGeom>
          <a:solidFill>
            <a:srgbClr val="F4FAF9"/>
          </a:solidFill>
          <a:ln w="15875">
            <a:solidFill>
              <a:srgbClr val="0A7E8C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640080" y="960120"/>
            <a:ext cx="1920240" cy="292608"/>
          </a:xfrm>
          <a:prstGeom prst="roundRect">
            <a:avLst>
              <a:gd name="adj" fmla="val 50000"/>
            </a:avLst>
          </a:prstGeom>
          <a:solidFill>
            <a:srgbClr val="0A7E8C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96012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PROMPT 模板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58368" y="1280160"/>
            <a:ext cx="782726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430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請提供節點A（UNO＋HC-SR04）的接線表：表格欄位=模組腳位/UNO腳位/線色建議/備註，電源與GND獨立成列；表後說明注意事項。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75488" y="1938528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D6B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參考接線表（AI 的版本可能不同 — 以你拿到的為準）</a:t>
            </a:r>
            <a:endParaRPr lang="en-US" sz="10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212848"/>
          <a:ext cx="8229600" cy="164592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模組腳位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7E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UNO 腳位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7E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線色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7E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備註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7E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430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VCC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430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5V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430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紅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430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HC-SR04 需 5V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430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GND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430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GND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430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黑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430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務必共地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430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Trig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430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D9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430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黃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430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觸發（輸出）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430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Echo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430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D10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430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綠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430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回波（輸入）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457200" y="3950208"/>
            <a:ext cx="8229600" cy="713232"/>
          </a:xfrm>
          <a:prstGeom prst="roundRect">
            <a:avLst>
              <a:gd name="adj" fmla="val 11538"/>
            </a:avLst>
          </a:prstGeom>
          <a:solidFill>
            <a:srgbClr val="FBF3E2"/>
          </a:solidFill>
          <a:ln/>
        </p:spPr>
      </p:sp>
      <p:sp>
        <p:nvSpPr>
          <p:cNvPr id="12" name="Text 9"/>
          <p:cNvSpPr/>
          <p:nvPr/>
        </p:nvSpPr>
        <p:spPr>
          <a:xfrm>
            <a:off x="621792" y="4059936"/>
            <a:ext cx="7900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9750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接線鐵律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21792" y="4407408"/>
            <a:ext cx="79004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2430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先拔 USB 斷電再接線；先接 GND、再 VCC、最後訊號線；接完逐列打勾，通電前再對照一次。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49640" y="486460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AACB5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l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042416" cy="310896"/>
          </a:xfrm>
          <a:prstGeom prst="roundRect">
            <a:avLst>
              <a:gd name="adj" fmla="val 50000"/>
            </a:avLst>
          </a:prstGeom>
          <a:solidFill>
            <a:srgbClr val="0A7E8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1042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實作 3b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664208" y="219456"/>
            <a:ext cx="7004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430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節點A 測試程式（20 分鐘）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731520"/>
          </a:xfrm>
          <a:prstGeom prst="roundRect">
            <a:avLst>
              <a:gd name="adj" fmla="val 11250"/>
            </a:avLst>
          </a:prstGeom>
          <a:solidFill>
            <a:srgbClr val="F4FAF9"/>
          </a:solidFill>
          <a:ln w="15875">
            <a:solidFill>
              <a:srgbClr val="0A7E8C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640080" y="960120"/>
            <a:ext cx="1920240" cy="292608"/>
          </a:xfrm>
          <a:prstGeom prst="roundRect">
            <a:avLst>
              <a:gd name="adj" fmla="val 50000"/>
            </a:avLst>
          </a:prstGeom>
          <a:solidFill>
            <a:srgbClr val="0A7E8C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96012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PROMPT 模板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58368" y="1280160"/>
            <a:ext cx="78272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430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接線完成。請給 HC-SR04 測試程式：每0.5秒量測距離並輸出到序列埠（115200），每行中文註解，並告訴我如何驗證成功。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2057400"/>
            <a:ext cx="8229600" cy="1717929"/>
          </a:xfrm>
          <a:prstGeom prst="roundRect">
            <a:avLst>
              <a:gd name="adj" fmla="val 3726"/>
            </a:avLst>
          </a:prstGeom>
          <a:solidFill>
            <a:srgbClr val="1E2A32"/>
          </a:solidFill>
          <a:ln/>
        </p:spPr>
      </p:sp>
      <p:sp>
        <p:nvSpPr>
          <p:cNvPr id="10" name="Text 8"/>
          <p:cNvSpPr/>
          <p:nvPr/>
        </p:nvSpPr>
        <p:spPr>
          <a:xfrm>
            <a:off x="621792" y="2148840"/>
            <a:ext cx="7900416" cy="15350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9E6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int TRIG=9, ECHO=10;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9E6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setup(){ Serial.begin(115200); pinMode(TRIG,OUTPUT); pinMode(ECHO,INPUT); }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9E6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loop(){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9E6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digitalWrite(TRIG,LOW); delayMicroseconds(2);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9E6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digitalWrite(TRIG,HIGH); delayMicroseconds(10); digitalWrite(TRIG,LOW);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9E6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float cm = pulseIn(ECHO,HIGH,30000)*0.0343/2;  // 回波時間換算公分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9E6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Serial.print("cm="); Serial.println(cm);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9E6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delay(500);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9E6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537960" y="1929384"/>
            <a:ext cx="2011680" cy="274320"/>
          </a:xfrm>
          <a:prstGeom prst="roundRect">
            <a:avLst>
              <a:gd name="adj" fmla="val 50000"/>
            </a:avLst>
          </a:prstGeom>
          <a:solidFill>
            <a:srgbClr val="E8B93B"/>
          </a:solidFill>
          <a:ln/>
        </p:spPr>
      </p:sp>
      <p:sp>
        <p:nvSpPr>
          <p:cNvPr id="12" name="Text 10"/>
          <p:cNvSpPr/>
          <p:nvPr/>
        </p:nvSpPr>
        <p:spPr>
          <a:xfrm>
            <a:off x="6537960" y="192938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034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參考程式（AI版本可能不同）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3794760"/>
            <a:ext cx="8229600" cy="777240"/>
          </a:xfrm>
          <a:prstGeom prst="roundRect">
            <a:avLst>
              <a:gd name="adj" fmla="val 10588"/>
            </a:avLst>
          </a:prstGeom>
          <a:solidFill>
            <a:srgbClr val="E7F3E9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" y="3904488"/>
            <a:ext cx="7900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5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驗證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1792" y="4251960"/>
            <a:ext cx="79004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2430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IDE：選 UNO＋正確的 COM 埠 → 上傳 → 開監控視窗（115200）→ 手放 10cm 處讀值 9~11、移開變大 ✓。一直是 0？檢查接線與供電，再用問題回報模板問 AI。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49640" y="486460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AACB5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l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042416" cy="310896"/>
          </a:xfrm>
          <a:prstGeom prst="roundRect">
            <a:avLst>
              <a:gd name="adj" fmla="val 50000"/>
            </a:avLst>
          </a:prstGeom>
          <a:solidFill>
            <a:srgbClr val="0A7E8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1042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實作 3c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664208" y="219456"/>
            <a:ext cx="7004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430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節點A 整合程式：JSON 上行（30 分鐘）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8229600" cy="1184148"/>
          </a:xfrm>
          <a:prstGeom prst="roundRect">
            <a:avLst>
              <a:gd name="adj" fmla="val 6950"/>
            </a:avLst>
          </a:prstGeom>
          <a:solidFill>
            <a:srgbClr val="F4FAF9"/>
          </a:solidFill>
          <a:ln w="15875">
            <a:solidFill>
              <a:srgbClr val="0A7E8C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640080" y="1005840"/>
            <a:ext cx="1920240" cy="292608"/>
          </a:xfrm>
          <a:prstGeom prst="roundRect">
            <a:avLst>
              <a:gd name="adj" fmla="val 50000"/>
            </a:avLst>
          </a:prstGeom>
          <a:solidFill>
            <a:srgbClr val="0A7E8C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00584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PROMPT 模板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58368" y="1325880"/>
            <a:ext cx="7827264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430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測試通過（手放10cm讀值約10）。請給節點A整合程式：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430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 每2秒量測，距離&lt;10cm 判定 occ=1，否則 occ=0。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430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2. occ 改變時序列埠輸出一行 {"node":"A","occ":1}；另每10秒輸出一次當前狀態（心跳）。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430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3. 沿用測試通過的腳位。中文註解＋驗證步驟。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3017520"/>
            <a:ext cx="566928" cy="351495"/>
          </a:xfrm>
          <a:prstGeom prst="ellipse">
            <a:avLst/>
          </a:prstGeom>
          <a:solidFill>
            <a:srgbClr val="1C4956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3017520"/>
            <a:ext cx="566928" cy="351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161288" y="3017520"/>
            <a:ext cx="7525512" cy="577977"/>
          </a:xfrm>
          <a:prstGeom prst="roundRect">
            <a:avLst>
              <a:gd name="adj" fmla="val 12657"/>
            </a:avLst>
          </a:prstGeom>
          <a:solidFill>
            <a:srgbClr val="F2F4F7"/>
          </a:solidFill>
          <a:ln/>
        </p:spPr>
      </p:sp>
      <p:sp>
        <p:nvSpPr>
          <p:cNvPr id="12" name="Text 10"/>
          <p:cNvSpPr/>
          <p:nvPr/>
        </p:nvSpPr>
        <p:spPr>
          <a:xfrm>
            <a:off x="1280160" y="3072384"/>
            <a:ext cx="7287768" cy="468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430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驗證：開監控視窗，手遮住感測器 → 立即輸出 {"node":"A","occ":1}；移開 → {"node":"A","occ":0}；不動它，每10秒仍有一行心跳。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3931920"/>
            <a:ext cx="8229600" cy="602742"/>
          </a:xfrm>
          <a:prstGeom prst="roundRect">
            <a:avLst>
              <a:gd name="adj" fmla="val 12137"/>
            </a:avLst>
          </a:prstGeom>
          <a:solidFill>
            <a:srgbClr val="E7F3E9"/>
          </a:solidFill>
          <a:ln/>
        </p:spPr>
      </p:sp>
      <p:sp>
        <p:nvSpPr>
          <p:cNvPr id="14" name="Shape 12"/>
          <p:cNvSpPr/>
          <p:nvPr/>
        </p:nvSpPr>
        <p:spPr>
          <a:xfrm>
            <a:off x="566928" y="4114419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2E8540"/>
          </a:solidFill>
          <a:ln/>
        </p:spPr>
      </p:sp>
      <p:sp>
        <p:nvSpPr>
          <p:cNvPr id="15" name="Text 13"/>
          <p:cNvSpPr/>
          <p:nvPr/>
        </p:nvSpPr>
        <p:spPr>
          <a:xfrm>
            <a:off x="566928" y="4114419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TIP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261872" y="3968496"/>
            <a:ext cx="7269480" cy="5295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430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三項都勾到 = 節點A 完成！雙人協作的 A 工程師：把「輸出的 JSON 長相」拍照傳給隊友核對介面，然後去支援隊友或預習第5節。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57200" y="4462272"/>
            <a:ext cx="8229600" cy="365760"/>
          </a:xfrm>
          <a:prstGeom prst="roundRect">
            <a:avLst>
              <a:gd name="adj" fmla="val 20000"/>
            </a:avLst>
          </a:prstGeom>
          <a:solidFill>
            <a:srgbClr val="FBF3E2"/>
          </a:solidFill>
          <a:ln/>
        </p:spPr>
      </p:sp>
      <p:sp>
        <p:nvSpPr>
          <p:cNvPr id="18" name="Shape 16"/>
          <p:cNvSpPr/>
          <p:nvPr/>
        </p:nvSpPr>
        <p:spPr>
          <a:xfrm>
            <a:off x="566928" y="4526280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B97509"/>
          </a:solidFill>
          <a:ln/>
        </p:spPr>
      </p:sp>
      <p:sp>
        <p:nvSpPr>
          <p:cNvPr id="19" name="Text 17"/>
          <p:cNvSpPr/>
          <p:nvPr/>
        </p:nvSpPr>
        <p:spPr>
          <a:xfrm>
            <a:off x="566928" y="4526280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注意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261872" y="4498848"/>
            <a:ext cx="7269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430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測完記得關閉序列埠監控視窗 — 待會 Node-RED 要用同一個 COM 埠，開著會被占用。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49640" y="486460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AACB5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l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13232"/>
            <a:ext cx="2194560" cy="457200"/>
          </a:xfrm>
          <a:prstGeom prst="roundRect">
            <a:avLst>
              <a:gd name="adj" fmla="val 50000"/>
            </a:avLst>
          </a:prstGeom>
          <a:solidFill>
            <a:srgbClr val="17B8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71323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34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4 節（80分）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節點B：出入口控制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58368" y="2331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B8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本節目標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2697480"/>
            <a:ext cx="7589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450" dirty="0">
                <a:solidFill>
                  <a:srgbClr val="E8F1F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單人雙板：第4節做節點B；雙人雙機：B 工程師從第3節就開始本段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450" dirty="0">
                <a:solidFill>
                  <a:srgbClr val="E8F1F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接線：伺服馬達外部供電是全日最大陷阱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450" dirty="0">
                <a:solidFill>
                  <a:srgbClr val="E8F1F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逐模組測試 → 整合程式（收 JSON 命令＋按鈕邏輯）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58368" y="45720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FB4B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完整版教材對應：單元 3、4、5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49640" y="486460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E8893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l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042416" cy="310896"/>
          </a:xfrm>
          <a:prstGeom prst="roundRect">
            <a:avLst>
              <a:gd name="adj" fmla="val 50000"/>
            </a:avLst>
          </a:prstGeom>
          <a:solidFill>
            <a:srgbClr val="0A7E8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1042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實作 4a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664208" y="219456"/>
            <a:ext cx="7004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430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節點B 接線（25 分鐘）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896112"/>
          </a:xfrm>
          <a:prstGeom prst="roundRect">
            <a:avLst>
              <a:gd name="adj" fmla="val 9184"/>
            </a:avLst>
          </a:prstGeom>
          <a:solidFill>
            <a:srgbClr val="F4FAF9"/>
          </a:solidFill>
          <a:ln w="15875">
            <a:solidFill>
              <a:srgbClr val="0A7E8C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640080" y="960120"/>
            <a:ext cx="1920240" cy="292608"/>
          </a:xfrm>
          <a:prstGeom prst="roundRect">
            <a:avLst>
              <a:gd name="adj" fmla="val 50000"/>
            </a:avLst>
          </a:prstGeom>
          <a:solidFill>
            <a:srgbClr val="0A7E8C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96012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PROMPT 模板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58368" y="1280160"/>
            <a:ext cx="78272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2430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請提供節點B的接線表（模組：SG90伺服馬達、綠LED＋220Ω、紅LED＋220Ω、按鈕模組）：表格欄位=模組/模組腳位/UNO腳位/備註，電源與GND獨立成列；SG90 需以外部4節電池盒供電，請特別說明接法；表後說明注意事項與腳位衝突風險。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75488" y="2084832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D6B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參考接線表（AI 的版本可能不同 — 以你拿到的為準）</a:t>
            </a:r>
            <a:endParaRPr lang="en-US" sz="10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340864"/>
          <a:ext cx="8229600" cy="2029968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模組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7E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模組腳位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7E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UNO 腳位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7E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備註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7E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430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SG90 伺服馬達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430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橙（訊號）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430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D9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430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柵欄 0°=關、90°=開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430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紅(VCC) / 棕(GND)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430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電池盒＋ / 電池盒－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430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電池盒－必須同時接回 UNO GND（共地）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430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綠 LED＋220Ω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430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長腳（＋）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430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D6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430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短腳經電阻接 GND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430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紅 LED＋220Ω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430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長腳（＋）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430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D7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430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同上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430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按鈕模組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430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OUT / VCC / GND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430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D2 / 5V / GND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430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程式用 INPUT_PULLUP 或依模組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457200" y="4462272"/>
            <a:ext cx="8229600" cy="365760"/>
          </a:xfrm>
          <a:prstGeom prst="roundRect">
            <a:avLst>
              <a:gd name="adj" fmla="val 20000"/>
            </a:avLst>
          </a:prstGeom>
          <a:solidFill>
            <a:srgbClr val="FBF3E2"/>
          </a:solidFill>
          <a:ln/>
        </p:spPr>
      </p:sp>
      <p:sp>
        <p:nvSpPr>
          <p:cNvPr id="12" name="Shape 9"/>
          <p:cNvSpPr/>
          <p:nvPr/>
        </p:nvSpPr>
        <p:spPr>
          <a:xfrm>
            <a:off x="566928" y="4526280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B97509"/>
          </a:solidFill>
          <a:ln/>
        </p:spPr>
      </p:sp>
      <p:sp>
        <p:nvSpPr>
          <p:cNvPr id="13" name="Text 10"/>
          <p:cNvSpPr/>
          <p:nvPr/>
        </p:nvSpPr>
        <p:spPr>
          <a:xfrm>
            <a:off x="566928" y="4526280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注意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261872" y="4498848"/>
            <a:ext cx="7269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2430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全日最大陷阱：SG90 紅線「不要」接 UNO 5V（啟動電流會讓 UNO 重開機）— 接外部電池盒，且電池負極必須連回 UNO GND（共地）。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49640" y="486460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AACB5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l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042416" cy="310896"/>
          </a:xfrm>
          <a:prstGeom prst="roundRect">
            <a:avLst>
              <a:gd name="adj" fmla="val 50000"/>
            </a:avLst>
          </a:prstGeom>
          <a:solidFill>
            <a:srgbClr val="0A7E8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1042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實作 4b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664208" y="219456"/>
            <a:ext cx="7004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430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節點B 逐模組測試（20 分鐘）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75488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D6B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一次測一個 — 這是能不能準時下課的關鍵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8229600" cy="914400"/>
          </a:xfrm>
          <a:prstGeom prst="roundRect">
            <a:avLst>
              <a:gd name="adj" fmla="val 9000"/>
            </a:avLst>
          </a:prstGeom>
          <a:solidFill>
            <a:srgbClr val="F4FAF9"/>
          </a:solidFill>
          <a:ln w="15875">
            <a:solidFill>
              <a:srgbClr val="0A7E8C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640080" y="960120"/>
            <a:ext cx="1920240" cy="292608"/>
          </a:xfrm>
          <a:prstGeom prst="roundRect">
            <a:avLst>
              <a:gd name="adj" fmla="val 50000"/>
            </a:avLst>
          </a:prstGeom>
          <a:solidFill>
            <a:srgbClr val="0A7E8C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96012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PROMPT 模板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58368" y="1280160"/>
            <a:ext cx="782726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2430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接線完成。請給我三支「各自獨立」的測試程式，每支都要中文註解與驗證方法：(1) SG90（訊號=D9）在0°與90°間每秒來回 (2) 綠LED(D6)與紅LED(D7)交替閃爍 (3) 按鈕(D2, INPUT_PULLUP)按下時印出 pressed 到序列埠(115200)。腳位請依我實際接線。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212848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F0F7F8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212848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5F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測試 1｜柵欄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743200" y="221284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430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上傳測試 (1)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126480" y="221284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E85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 柵欄每秒開關一次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2871216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F7FAFB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871216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5F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測試 2｜紅綠燈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743200" y="2871216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430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上傳測試 (2)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126480" y="2871216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E85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 兩燈輪流亮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3529584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F0F7F8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529584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5F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測試 3｜按鈕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743200" y="3529584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430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上傳測試 (3)＋開監控視窗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126480" y="3529584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E85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 按下看到 pressed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7200" y="4263390"/>
            <a:ext cx="8229600" cy="564642"/>
          </a:xfrm>
          <a:prstGeom prst="roundRect">
            <a:avLst>
              <a:gd name="adj" fmla="val 12955"/>
            </a:avLst>
          </a:prstGeom>
          <a:solidFill>
            <a:srgbClr val="E7F3E9"/>
          </a:solidFill>
          <a:ln/>
        </p:spPr>
      </p:sp>
      <p:sp>
        <p:nvSpPr>
          <p:cNvPr id="23" name="Shape 21"/>
          <p:cNvSpPr/>
          <p:nvPr/>
        </p:nvSpPr>
        <p:spPr>
          <a:xfrm>
            <a:off x="566928" y="4426839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2E8540"/>
          </a:solidFill>
          <a:ln/>
        </p:spPr>
      </p:sp>
      <p:sp>
        <p:nvSpPr>
          <p:cNvPr id="24" name="Text 22"/>
          <p:cNvSpPr/>
          <p:nvPr/>
        </p:nvSpPr>
        <p:spPr>
          <a:xfrm>
            <a:off x="566928" y="4426839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TIP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261872" y="4299966"/>
            <a:ext cx="7269480" cy="4914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430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三支合併成一則提問，省額度；〔腳位〕記得改成你實際的接線 — 沿用四要素，AI 就不會給你對不上的程式。</a:t>
            </a:r>
            <a:endParaRPr lang="en-US" sz="105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49640" y="486460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AACB5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l"/>
            <a:fld id="{F7021451-1387-4CA6-816F-3879F97B5CBC}" type="slidenum">
              <a:rPr lang="en-US" b="0"/>
              <a:t>22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042416" cy="310896"/>
          </a:xfrm>
          <a:prstGeom prst="roundRect">
            <a:avLst>
              <a:gd name="adj" fmla="val 50000"/>
            </a:avLst>
          </a:prstGeom>
          <a:solidFill>
            <a:srgbClr val="0A7E8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1042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實作 4c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664208" y="219456"/>
            <a:ext cx="7004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430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節點B 整合程式：收命令＋按鈕邏輯（35 分鐘）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8229600" cy="1384173"/>
          </a:xfrm>
          <a:prstGeom prst="roundRect">
            <a:avLst>
              <a:gd name="adj" fmla="val 5945"/>
            </a:avLst>
          </a:prstGeom>
          <a:solidFill>
            <a:srgbClr val="F4FAF9"/>
          </a:solidFill>
          <a:ln w="15875">
            <a:solidFill>
              <a:srgbClr val="0A7E8C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640080" y="1005840"/>
            <a:ext cx="1920240" cy="292608"/>
          </a:xfrm>
          <a:prstGeom prst="roundRect">
            <a:avLst>
              <a:gd name="adj" fmla="val 50000"/>
            </a:avLst>
          </a:prstGeom>
          <a:solidFill>
            <a:srgbClr val="0A7E8C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00584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PROMPT 模板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58368" y="1325880"/>
            <a:ext cx="7827264" cy="1091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430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三個模組測試都通過。請給節點B整合程式：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430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 從序列埠接收一行一則JSON命令：{"cmd":"status","occ":0或1}（occ=0亮綠燈滅紅燈，occ=1相反）與 {"cmd":"gate","act":"open"}（開柵欄5秒後自動關）。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430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2. 按鈕按下：綠燈亮時→開柵欄5秒自動關；紅燈亮時→紅燈快閃3次、不開。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430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3. 用 millis() 非阻塞計時（柵欄開啟期間仍要能收命令）。沿用測試通過的腳位，中文註解＋驗證步驟。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3018993"/>
            <a:ext cx="8229600" cy="1280160"/>
          </a:xfrm>
          <a:prstGeom prst="roundRect">
            <a:avLst>
              <a:gd name="adj" fmla="val 6429"/>
            </a:avLst>
          </a:prstGeom>
          <a:solidFill>
            <a:srgbClr val="E7F3E9"/>
          </a:solidFill>
          <a:ln/>
        </p:spPr>
      </p:sp>
      <p:sp>
        <p:nvSpPr>
          <p:cNvPr id="10" name="Text 8"/>
          <p:cNvSpPr/>
          <p:nvPr/>
        </p:nvSpPr>
        <p:spPr>
          <a:xfrm>
            <a:off x="621792" y="3128721"/>
            <a:ext cx="7900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5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驗證：不用等 Node-RED，用監控視窗手動餵命令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21792" y="3476193"/>
            <a:ext cx="790041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2430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監控視窗輸入 {"cmd":"status","occ":0} → 綠燈亮；輸入 occ=1 → 紅燈亮</a:t>
            </a:r>
            <a:endParaRPr lang="en-US" sz="1050" dirty="0"/>
          </a:p>
          <a:p>
            <a:pPr marL="0" indent="0">
              <a:lnSpc>
                <a:spcPct val="122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2430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綠燈時按按鈕 → 柵欄開5秒自動關；紅燈時按 → 快閃不開</a:t>
            </a:r>
            <a:endParaRPr lang="en-US" sz="1050" dirty="0"/>
          </a:p>
          <a:p>
            <a:pPr marL="0" indent="0">
              <a:lnSpc>
                <a:spcPct val="122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2430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 {"cmd":"gate","act":"open"} → 柵欄開一次 ✓ 全過 = 節點B 完成！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4325112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E7F3E9"/>
          </a:solidFill>
          <a:ln/>
        </p:spPr>
      </p:sp>
      <p:sp>
        <p:nvSpPr>
          <p:cNvPr id="13" name="Shape 11"/>
          <p:cNvSpPr/>
          <p:nvPr/>
        </p:nvSpPr>
        <p:spPr>
          <a:xfrm>
            <a:off x="566928" y="4457700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2E8540"/>
          </a:solidFill>
          <a:ln/>
        </p:spPr>
      </p:sp>
      <p:sp>
        <p:nvSpPr>
          <p:cNvPr id="14" name="Text 12"/>
          <p:cNvSpPr/>
          <p:nvPr/>
        </p:nvSpPr>
        <p:spPr>
          <a:xfrm>
            <a:off x="566928" y="4457700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TIP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261872" y="4361688"/>
            <a:ext cx="7269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430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監控視窗記得選「NL（換行）」結尾，否則 readStringUntil 收不到完整一行。雙人的 B 工程師：完成後把「你吃的命令格式」與隊友的輸出核對一次。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49640" y="486460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AACB5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l"/>
            <a:fld id="{F7021451-1387-4CA6-816F-3879F97B5CBC}" type="slidenum">
              <a:rPr lang="en-US" b="0"/>
              <a:t>23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96112" cy="310896"/>
          </a:xfrm>
          <a:prstGeom prst="roundRect">
            <a:avLst>
              <a:gd name="adj" fmla="val 50000"/>
            </a:avLst>
          </a:prstGeom>
          <a:solidFill>
            <a:srgbClr val="0A7E8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896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卡關了？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517904" y="219456"/>
            <a:ext cx="7150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430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問題回報模板＋常見坑速查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75488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D6B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全天通用 — 建議拍照存在手機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8229600" cy="784098"/>
          </a:xfrm>
          <a:prstGeom prst="roundRect">
            <a:avLst>
              <a:gd name="adj" fmla="val 10496"/>
            </a:avLst>
          </a:prstGeom>
          <a:solidFill>
            <a:srgbClr val="F4FAF9"/>
          </a:solidFill>
          <a:ln w="15875">
            <a:solidFill>
              <a:srgbClr val="0A7E8C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640080" y="1051560"/>
            <a:ext cx="1920240" cy="292608"/>
          </a:xfrm>
          <a:prstGeom prst="roundRect">
            <a:avLst>
              <a:gd name="adj" fmla="val 50000"/>
            </a:avLst>
          </a:prstGeom>
          <a:solidFill>
            <a:srgbClr val="0A7E8C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05156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問題回報模板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58368" y="1371600"/>
            <a:ext cx="7827264" cy="491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430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【我在做什麼】〔實作4c整合測試〕【預期】〔綠燈時按鈕開柵欄〕【實際】〔柵欄抖動一下就不動〕【錯誤訊息】〔無/全文照貼〕【已檢查】〔接線與程式腳位一致、單測時正常〕。請列出最可能的2~3個原因，一次一個給我檢查步驟。</a:t>
            </a:r>
            <a:endParaRPr lang="en-US" sz="105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834640"/>
          <a:ext cx="8229600" cy="2011680"/>
        </p:xfrm>
        <a:graphic>
          <a:graphicData uri="http://schemas.openxmlformats.org/drawingml/2006/table">
            <a:tbl>
              <a:tblPr/>
              <a:tblGrid>
                <a:gridCol w="3840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症狀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7E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九成的原因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7E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430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伺服一動，UNO 重開機／LED 變暗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430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SG90 接了 UNO 5V → 改外部電池盒＋共地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430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上傳失敗 programmer is not responding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430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COM 埠選錯，或監控視窗/Node-RED 占用中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430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讀值/行為時好時壞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430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杜邦線接觸不良 → 重插、換線、換孔位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430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編譯錯誤一大串紅字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430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全文照貼給 AI，不要自己猜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49640" y="486460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AACB5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l"/>
            <a:fld id="{F7021451-1387-4CA6-816F-3879F97B5CBC}" type="slidenum">
              <a:rPr lang="en-US" b="0"/>
              <a:t>24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13232"/>
            <a:ext cx="2194560" cy="457200"/>
          </a:xfrm>
          <a:prstGeom prst="roundRect">
            <a:avLst>
              <a:gd name="adj" fmla="val 50000"/>
            </a:avLst>
          </a:prstGeom>
          <a:solidFill>
            <a:srgbClr val="17B8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71323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34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5 節（70分）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Node-RED：把兩個節點接上雲端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58368" y="2331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B8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本節目標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2697480"/>
            <a:ext cx="7589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450" dirty="0">
                <a:solidFill>
                  <a:srgbClr val="E8F1F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單人雙板：一台電腦一個 flow 管兩片 UNO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450" dirty="0">
                <a:solidFill>
                  <a:srgbClr val="E8F1F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雙人雙機：兩台電腦各當一個閘道，經 MQTT 雲端對接 — 資料真的走過網際網路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450" dirty="0">
                <a:solidFill>
                  <a:srgbClr val="E8F1F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殺手級技巧：請 AI 直接生成可匯入的 flow JSON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58368" y="45720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FB4B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完整版教材對應：單元 6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49640" y="486460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E8893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l"/>
            <a:fld id="{F7021451-1387-4CA6-816F-3879F97B5CBC}" type="slidenum">
              <a:rPr lang="en-US" b="0"/>
              <a:t>25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773936" cy="310896"/>
          </a:xfrm>
          <a:prstGeom prst="roundRect">
            <a:avLst>
              <a:gd name="adj" fmla="val 50000"/>
            </a:avLst>
          </a:prstGeom>
          <a:solidFill>
            <a:srgbClr val="0A7E8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1773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實作 5a｜單人雙板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395728" y="219456"/>
            <a:ext cx="6272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430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一台電腦的 flow：生成 → 匯入（25 分鐘）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75488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D6B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雙人雙機請跳到下一頁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8229600" cy="1184148"/>
          </a:xfrm>
          <a:prstGeom prst="roundRect">
            <a:avLst>
              <a:gd name="adj" fmla="val 6950"/>
            </a:avLst>
          </a:prstGeom>
          <a:solidFill>
            <a:srgbClr val="F4FAF9"/>
          </a:solidFill>
          <a:ln w="15875">
            <a:solidFill>
              <a:srgbClr val="0A7E8C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640080" y="1005840"/>
            <a:ext cx="1920240" cy="292608"/>
          </a:xfrm>
          <a:prstGeom prst="roundRect">
            <a:avLst>
              <a:gd name="adj" fmla="val 50000"/>
            </a:avLst>
          </a:prstGeom>
          <a:solidFill>
            <a:srgbClr val="0A7E8C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00584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PROMPT 模板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58368" y="1325880"/>
            <a:ext cx="7827264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430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請生成可直接 Import 的 Node-RED flow JSON：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430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 serial in（節點A的COM埠,115200,以\n分行）→ json → mqtt out 到 class-parking/nodeA/status。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430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2. mqtt in 訂閱 class-parking/nodeB/cmd → serial out（節點B的COM埠,115200,結尾補\n）。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430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3. broker=broker.emqx.io:1883；每段接 debug 節點。JSON後列出匯入後要手動確認的設定。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3154680"/>
            <a:ext cx="822960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3264408"/>
            <a:ext cx="7900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5F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匯入與確認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21792" y="3611880"/>
            <a:ext cx="790041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2430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Import 貼上 JSON　② 雙擊 serial 節點改成實際 COM 埠（A、B 各一）</a:t>
            </a:r>
            <a:endParaRPr lang="en-US" sz="1050" dirty="0"/>
          </a:p>
          <a:p>
            <a:pPr marL="0" indent="0">
              <a:lnSpc>
                <a:spcPct val="122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2430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Deploy → 兩個 serial 節點顯示 connected（IDE 監控視窗要先關！）</a:t>
            </a:r>
            <a:endParaRPr lang="en-US" sz="1050" dirty="0"/>
          </a:p>
          <a:p>
            <a:pPr marL="0" indent="0">
              <a:lnSpc>
                <a:spcPct val="122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2430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④ 手遮節點A感測器 → debug 視窗看到 {"node":"A","occ":1} ✓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49640" y="486460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AACB5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l"/>
            <a:fld id="{F7021451-1387-4CA6-816F-3879F97B5CBC}" type="slidenum">
              <a:rPr lang="en-US" b="0"/>
              <a:t>26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773936" cy="310896"/>
          </a:xfrm>
          <a:prstGeom prst="roundRect">
            <a:avLst>
              <a:gd name="adj" fmla="val 50000"/>
            </a:avLst>
          </a:prstGeom>
          <a:solidFill>
            <a:srgbClr val="0A7E8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1773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實作 5a｜雙人雙機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395728" y="219456"/>
            <a:ext cx="6272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430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雲端對接：兩台電腦各自建 flow（25 分鐘）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75488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D6B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各自在自己的電腦、自己的對話串完成 — 不用搬板子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57200" y="1170432"/>
            <a:ext cx="4023360" cy="1600200"/>
          </a:xfrm>
          <a:prstGeom prst="roundRect">
            <a:avLst>
              <a:gd name="adj" fmla="val 5143"/>
            </a:avLst>
          </a:prstGeom>
          <a:solidFill>
            <a:srgbClr val="F4FAF9"/>
          </a:solidFill>
          <a:ln w="15875">
            <a:solidFill>
              <a:srgbClr val="0A7E8C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640080" y="1033272"/>
            <a:ext cx="2377440" cy="292608"/>
          </a:xfrm>
          <a:prstGeom prst="roundRect">
            <a:avLst>
              <a:gd name="adj" fmla="val 50000"/>
            </a:avLst>
          </a:prstGeom>
          <a:solidFill>
            <a:srgbClr val="0A7E8C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03327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 工程師的電腦（感測端閘道）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58368" y="1353312"/>
            <a:ext cx="3621024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2430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請生成可Import的Node-RED flow JSON：serial in（我UNO的COM埠,115200,以\n分行）→ json → mqtt out 發布到 class-parking/nodeA/status，接debug節點。broker=broker.emqx.io:1883。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63440" y="1170432"/>
            <a:ext cx="4023360" cy="1600200"/>
          </a:xfrm>
          <a:prstGeom prst="roundRect">
            <a:avLst>
              <a:gd name="adj" fmla="val 5143"/>
            </a:avLst>
          </a:prstGeom>
          <a:solidFill>
            <a:srgbClr val="F4FAF9"/>
          </a:solidFill>
          <a:ln w="15875">
            <a:solidFill>
              <a:srgbClr val="0A7E8C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4846320" y="1033272"/>
            <a:ext cx="2377440" cy="292608"/>
          </a:xfrm>
          <a:prstGeom prst="roundRect">
            <a:avLst>
              <a:gd name="adj" fmla="val 50000"/>
            </a:avLst>
          </a:prstGeom>
          <a:solidFill>
            <a:srgbClr val="1C4956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103327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 工程師的電腦（控制端閘道）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64608" y="1353312"/>
            <a:ext cx="3621024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2430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請生成可Import的Node-RED flow JSON：(1) mqtt in 訂閱 class-parking/nodeB/cmd → serial out（我UNO的COM埠,115200,結尾補\n）(2) mqtt in 訂閱 class-parking/nodeA/status → debug（確認收得到隊友資料）。broker=broker.emqx.io:1883。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2926080"/>
            <a:ext cx="822960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" y="2991564"/>
            <a:ext cx="7900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5F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各自匯入與確認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1792" y="3339036"/>
            <a:ext cx="790041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2430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Import 貼上 JSON　② serial 節點改成自己的 COM 埠　③ Deploy → serial 顯示 connected（IDE 監控視窗先關）</a:t>
            </a:r>
            <a:endParaRPr lang="en-US" sz="1000" dirty="0"/>
          </a:p>
          <a:p>
            <a:pPr marL="0" indent="0">
              <a:lnSpc>
                <a:spcPct val="122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2430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④ 兩人的 topic 前綴必須一字不差（介面凍結！）— 對接失敗第一件事就是核對 topic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913632"/>
            <a:ext cx="8229600" cy="548640"/>
          </a:xfrm>
          <a:prstGeom prst="roundRect">
            <a:avLst>
              <a:gd name="adj" fmla="val 15000"/>
            </a:avLst>
          </a:prstGeom>
          <a:solidFill>
            <a:srgbClr val="E7F3E9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913632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5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對接時刻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103120" y="3913632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430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 用手遮住感測器 → B 電腦的 debug 視窗跳出 {"node":"A","occ":1} — 兩台電腦透過雲端握手成功！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4480560"/>
            <a:ext cx="8229600" cy="347472"/>
          </a:xfrm>
          <a:prstGeom prst="roundRect">
            <a:avLst>
              <a:gd name="adj" fmla="val 21053"/>
            </a:avLst>
          </a:prstGeom>
          <a:solidFill>
            <a:srgbClr val="E7F3E9"/>
          </a:solidFill>
          <a:ln/>
        </p:spPr>
      </p:sp>
      <p:sp>
        <p:nvSpPr>
          <p:cNvPr id="21" name="Shape 19"/>
          <p:cNvSpPr/>
          <p:nvPr/>
        </p:nvSpPr>
        <p:spPr>
          <a:xfrm>
            <a:off x="566928" y="4535424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2E8540"/>
          </a:solidFill>
          <a:ln/>
        </p:spPr>
      </p:sp>
      <p:sp>
        <p:nvSpPr>
          <p:cNvPr id="22" name="Text 20"/>
          <p:cNvSpPr/>
          <p:nvPr/>
        </p:nvSpPr>
        <p:spPr>
          <a:xfrm>
            <a:off x="566928" y="4535424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TIP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261872" y="4517136"/>
            <a:ext cx="7269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2430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對接不通：先逐字核對兩邊 topic 與 broker → 看 A 端 debug 有無資料（沒有＝A端問題）→ 把兩邊 flow 描述貼給 AI。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49640" y="486460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AACB5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l"/>
            <a:fld id="{F7021451-1387-4CA6-816F-3879F97B5CBC}" type="slidenum">
              <a:rPr lang="en-US" b="0"/>
              <a:t>27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0A7E8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實作 5b＋5c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103120" y="219456"/>
            <a:ext cx="6565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430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協同規則與 Dashboard（45 分鐘）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75488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D6B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單人：同一台電腦；雙人雙機：這一步在 B 工程師的電腦上做，A 從旁一起看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8229600" cy="1527048"/>
          </a:xfrm>
          <a:prstGeom prst="roundRect">
            <a:avLst>
              <a:gd name="adj" fmla="val 5389"/>
            </a:avLst>
          </a:prstGeom>
          <a:solidFill>
            <a:srgbClr val="F4FAF9"/>
          </a:solidFill>
          <a:ln w="15875">
            <a:solidFill>
              <a:srgbClr val="0A7E8C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640080" y="1005840"/>
            <a:ext cx="1920240" cy="292608"/>
          </a:xfrm>
          <a:prstGeom prst="roundRect">
            <a:avLst>
              <a:gd name="adj" fmla="val 50000"/>
            </a:avLst>
          </a:prstGeom>
          <a:solidFill>
            <a:srgbClr val="0A7E8C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00584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PROMPT 模板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58368" y="1325880"/>
            <a:ext cx="782726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2430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flow 已通。請在同一個 flow 加入：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2430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 function節點「協同規則」：把收到的 {"node":"A","occ":X} 轉成 {"cmd":"status","occ":X} 發布到 class-parking/nodeB/cmd（單人：接在 serial in 的 json 之後；雙人：接在 mqtt in nodeA/status 之後）。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2430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2. dashboard（我已裝node-red-dashboard）：車位狀態指示（綠=空/紅=占用）＋「手動開閘」按鈕（按下發布 {"cmd":"gate","act":"open"} 到 class-parking/nodeB/cmd）。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2430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請輸出完整新版 flow JSON，並列出與前版差異。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3200400"/>
            <a:ext cx="8229600" cy="1005840"/>
          </a:xfrm>
          <a:prstGeom prst="roundRect">
            <a:avLst>
              <a:gd name="adj" fmla="val 8182"/>
            </a:avLst>
          </a:prstGeom>
          <a:solidFill>
            <a:srgbClr val="E7F3E9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" y="3310128"/>
            <a:ext cx="7900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5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驗證（M3 完成條件）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21792" y="3657600"/>
            <a:ext cx="79004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2430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手遮感測器 → 節點B 紅燈亮＋網頁（http://localhost:1880/ui）變紅；移開 → 綠燈＋網頁變綠</a:t>
            </a:r>
            <a:endParaRPr lang="en-US" sz="1050" dirty="0"/>
          </a:p>
          <a:p>
            <a:pPr marL="0" indent="0">
              <a:lnSpc>
                <a:spcPct val="122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2430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網頁按「手動開閘」→ 柵欄開一次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4325112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E7F3E9"/>
          </a:solidFill>
          <a:ln/>
        </p:spPr>
      </p:sp>
      <p:sp>
        <p:nvSpPr>
          <p:cNvPr id="14" name="Shape 12"/>
          <p:cNvSpPr/>
          <p:nvPr/>
        </p:nvSpPr>
        <p:spPr>
          <a:xfrm>
            <a:off x="566928" y="4457700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2E8540"/>
          </a:solidFill>
          <a:ln/>
        </p:spPr>
      </p:sp>
      <p:sp>
        <p:nvSpPr>
          <p:cNvPr id="15" name="Text 13"/>
          <p:cNvSpPr/>
          <p:nvPr/>
        </p:nvSpPr>
        <p:spPr>
          <a:xfrm>
            <a:off x="566928" y="4457700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TIP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261872" y="4361688"/>
            <a:ext cx="7269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430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雙人加碼：A 工程師在自己座位開瀏覽器連 http://〔B電腦的IP〕:1880/ui 監看 — 這就是「遠端監控」（若連不上多半是 Windows 防火牆，非必要步驟）。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49640" y="486460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AACB5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l"/>
            <a:fld id="{F7021451-1387-4CA6-816F-3879F97B5CBC}" type="slidenum">
              <a:rPr lang="en-US" b="0"/>
              <a:t>28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13232"/>
            <a:ext cx="2194560" cy="457200"/>
          </a:xfrm>
          <a:prstGeom prst="roundRect">
            <a:avLst>
              <a:gd name="adj" fmla="val 50000"/>
            </a:avLst>
          </a:prstGeom>
          <a:solidFill>
            <a:srgbClr val="17B8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71323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34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6 節（40分）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整合驗收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58368" y="2331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B8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本節目標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2697480"/>
            <a:ext cx="7589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450" dirty="0">
                <a:solidFill>
                  <a:srgbClr val="E8F1F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照規格書的 5 條驗收標準逐項打勾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450" dirty="0">
                <a:solidFill>
                  <a:srgbClr val="E8F1F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雙人雙機：交叉驗收 — 由對方操作你負責的節點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450" dirty="0">
                <a:solidFill>
                  <a:srgbClr val="E8F1F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沒過的項目：現場用除錯對話術解決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58368" y="45720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FB4B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完整版教材對應：單元 7 的 M7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49640" y="486460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E8893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l"/>
            <a:fld id="{F7021451-1387-4CA6-816F-3879F97B5CBC}" type="slidenum">
              <a:rPr lang="en-US" b="0"/>
              <a:t>29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042416" cy="310896"/>
          </a:xfrm>
          <a:prstGeom prst="roundRect">
            <a:avLst>
              <a:gd name="adj" fmla="val 50000"/>
            </a:avLst>
          </a:prstGeom>
          <a:solidFill>
            <a:srgbClr val="0A7E8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1042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6 節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664208" y="219456"/>
            <a:ext cx="7004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430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驗收表：逐項打勾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75488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D6B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雙人：A 工程師唸條件與打勾，B 工程師操作 — 然後互換</a:t>
            </a:r>
            <a:endParaRPr lang="en-US" sz="115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2743200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#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7E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驗收項目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7E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操作與通過條件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7E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✓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7E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430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430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車位偵測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430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遮住感測器 → 2秒內紅燈亮、網頁變紅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430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☐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430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430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正常進場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430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空位（綠燈）按按鈕 → 柵欄開5秒自動關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430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☐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430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430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滿位管制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430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占用（紅燈）按按鈕 → 不開、紅燈快閃3次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430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☐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430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430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手動開閘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430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網頁按鈕 → 柵欄開一次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430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☐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430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430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斷線恢復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430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拔節點A的USB再接回 → 30秒內網頁恢復更新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430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☐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3831637"/>
            <a:ext cx="8229600" cy="602742"/>
          </a:xfrm>
          <a:prstGeom prst="roundRect">
            <a:avLst>
              <a:gd name="adj" fmla="val 12137"/>
            </a:avLst>
          </a:prstGeom>
          <a:solidFill>
            <a:srgbClr val="E7F3E9"/>
          </a:solidFill>
          <a:ln/>
        </p:spPr>
      </p:sp>
      <p:sp>
        <p:nvSpPr>
          <p:cNvPr id="8" name="Shape 5"/>
          <p:cNvSpPr/>
          <p:nvPr/>
        </p:nvSpPr>
        <p:spPr>
          <a:xfrm>
            <a:off x="566928" y="4014136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2E8540"/>
          </a:solidFill>
          <a:ln/>
        </p:spPr>
      </p:sp>
      <p:sp>
        <p:nvSpPr>
          <p:cNvPr id="9" name="Text 6"/>
          <p:cNvSpPr/>
          <p:nvPr/>
        </p:nvSpPr>
        <p:spPr>
          <a:xfrm>
            <a:off x="566928" y="4014136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TIP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261872" y="3868213"/>
            <a:ext cx="7269480" cy="5295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430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五條全過：恭喜完成你（們）的第一個 AI 協作物聯網系統！把「與 AI 的關鍵對話」存檔 — 它是今天最有價值的作品。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57200" y="4462272"/>
            <a:ext cx="8229600" cy="365760"/>
          </a:xfrm>
          <a:prstGeom prst="roundRect">
            <a:avLst>
              <a:gd name="adj" fmla="val 20000"/>
            </a:avLst>
          </a:prstGeom>
          <a:solidFill>
            <a:srgbClr val="FBF3E2"/>
          </a:solidFill>
          <a:ln/>
        </p:spPr>
      </p:sp>
      <p:sp>
        <p:nvSpPr>
          <p:cNvPr id="12" name="Shape 9"/>
          <p:cNvSpPr/>
          <p:nvPr/>
        </p:nvSpPr>
        <p:spPr>
          <a:xfrm>
            <a:off x="566928" y="4526280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B97509"/>
          </a:solidFill>
          <a:ln/>
        </p:spPr>
      </p:sp>
      <p:sp>
        <p:nvSpPr>
          <p:cNvPr id="13" name="Text 10"/>
          <p:cNvSpPr/>
          <p:nvPr/>
        </p:nvSpPr>
        <p:spPr>
          <a:xfrm>
            <a:off x="566928" y="4526280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注意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261872" y="4498848"/>
            <a:ext cx="7269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430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沒過的項目不是失敗，是最好的教材：用問題回報模板現場除錯，講師與同學一起看。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49640" y="486460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AACB5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l"/>
            <a:fld id="{F7021451-1387-4CA6-816F-3879F97B5CBC}" type="slidenum">
              <a:rPr lang="en-US" b="0"/>
              <a:t>30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603504" cy="310896"/>
          </a:xfrm>
          <a:prstGeom prst="roundRect">
            <a:avLst>
              <a:gd name="adj" fmla="val 50000"/>
            </a:avLst>
          </a:prstGeom>
          <a:solidFill>
            <a:srgbClr val="0A7E8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603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收尾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225296" y="219456"/>
            <a:ext cx="7443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430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帶回家的三件事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8229600" cy="1042416"/>
          </a:xfrm>
          <a:prstGeom prst="roundRect">
            <a:avLst>
              <a:gd name="adj" fmla="val 7895"/>
            </a:avLst>
          </a:prstGeom>
          <a:solidFill>
            <a:srgbClr val="F0F7F8"/>
          </a:solidFill>
          <a:ln/>
        </p:spPr>
      </p:sp>
      <p:sp>
        <p:nvSpPr>
          <p:cNvPr id="6" name="Text 4"/>
          <p:cNvSpPr/>
          <p:nvPr/>
        </p:nvSpPr>
        <p:spPr>
          <a:xfrm>
            <a:off x="621792" y="1161288"/>
            <a:ext cx="7900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5F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方法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21792" y="1508760"/>
            <a:ext cx="79004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2430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四要素提問 → 分階段索取 → 每步驗證 → 模板化除錯。這套流程適用任何 AI、任何專題；雙人協作再加一條：介面先凍結，再平行開發、雲端對接。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221992"/>
            <a:ext cx="8229600" cy="1042416"/>
          </a:xfrm>
          <a:prstGeom prst="roundRect">
            <a:avLst>
              <a:gd name="adj" fmla="val 7895"/>
            </a:avLst>
          </a:prstGeom>
          <a:solidFill>
            <a:srgbClr val="F0F7F8"/>
          </a:solidFill>
          <a:ln/>
        </p:spPr>
      </p:sp>
      <p:sp>
        <p:nvSpPr>
          <p:cNvPr id="9" name="Text 7"/>
          <p:cNvSpPr/>
          <p:nvPr/>
        </p:nvSpPr>
        <p:spPr>
          <a:xfrm>
            <a:off x="621792" y="2331720"/>
            <a:ext cx="7900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5F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完整版教材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21792" y="2679192"/>
            <a:ext cx="79004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2430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《用生成式AI完成你的物聯網專題》109頁：規格書七項目教學（單元2）、除錯對話術（單元5）、三車位完整版（單元7）、自訂專題引導與點子庫（單元8）。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392424"/>
            <a:ext cx="8229600" cy="1042416"/>
          </a:xfrm>
          <a:prstGeom prst="roundRect">
            <a:avLst>
              <a:gd name="adj" fmla="val 7895"/>
            </a:avLst>
          </a:prstGeom>
          <a:solidFill>
            <a:srgbClr val="F0F7F8"/>
          </a:solidFill>
          <a:ln/>
        </p:spPr>
      </p:sp>
      <p:sp>
        <p:nvSpPr>
          <p:cNvPr id="12" name="Text 10"/>
          <p:cNvSpPr/>
          <p:nvPr/>
        </p:nvSpPr>
        <p:spPr>
          <a:xfrm>
            <a:off x="621792" y="3502152"/>
            <a:ext cx="7900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5F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下一步挑戰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21792" y="3849624"/>
            <a:ext cx="79004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2430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把今天的系統升級成三車位版（加第二顆超音波＋光敏＋OLED）— 完整版單元7就是照著做的劇本；或用單元8的提案模板開自己的題目。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4462272"/>
            <a:ext cx="8229600" cy="365760"/>
          </a:xfrm>
          <a:prstGeom prst="roundRect">
            <a:avLst>
              <a:gd name="adj" fmla="val 20000"/>
            </a:avLst>
          </a:prstGeom>
          <a:solidFill>
            <a:srgbClr val="E7F3E9"/>
          </a:solidFill>
          <a:ln/>
        </p:spPr>
      </p:sp>
      <p:sp>
        <p:nvSpPr>
          <p:cNvPr id="15" name="Shape 13"/>
          <p:cNvSpPr/>
          <p:nvPr/>
        </p:nvSpPr>
        <p:spPr>
          <a:xfrm>
            <a:off x="566928" y="4526280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2E8540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4526280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TIP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261872" y="4498848"/>
            <a:ext cx="7269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430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鬼打牆時的三招（詳見完整版單元5）：要求歸零重看清單化原因 → 換個問法 → 請它寫「交接摘要」開新對話串。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49640" y="486460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AACB5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l"/>
            <a:fld id="{F7021451-1387-4CA6-816F-3879F97B5CBC}" type="slidenum">
              <a:rPr lang="en-US" b="0"/>
              <a:t>31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603504" cy="310896"/>
          </a:xfrm>
          <a:prstGeom prst="roundRect">
            <a:avLst>
              <a:gd name="adj" fmla="val 50000"/>
            </a:avLst>
          </a:prstGeom>
          <a:solidFill>
            <a:srgbClr val="0A7E8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603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附錄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225296" y="219456"/>
            <a:ext cx="7443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430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今日 Prompt 速查（1/2）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229600" cy="1184148"/>
          </a:xfrm>
          <a:prstGeom prst="roundRect">
            <a:avLst>
              <a:gd name="adj" fmla="val 6950"/>
            </a:avLst>
          </a:prstGeom>
          <a:solidFill>
            <a:srgbClr val="F4FAF9"/>
          </a:solidFill>
          <a:ln w="15875">
            <a:solidFill>
              <a:srgbClr val="0A7E8C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640080" y="1051560"/>
            <a:ext cx="1920240" cy="292608"/>
          </a:xfrm>
          <a:prstGeom prst="roundRect">
            <a:avLst>
              <a:gd name="adj" fmla="val 50000"/>
            </a:avLst>
          </a:prstGeom>
          <a:solidFill>
            <a:srgbClr val="0A7E8C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05156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開場（第1節）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58368" y="1371600"/>
            <a:ext cx="7827264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430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你是資深物聯網工程師與教學助教。我是Arduino初學者，不熟C++，請用繁體中文協助。環境：UNO（無WiFi）＋Windows＋Arduino IDE＋Node-RED閘道（serialport,115200）＋MQTT（broker.emqx.io:1883）＋dashboard。原則：只用我的材料、程式加中文註解、接線用表格、每步驟附驗證方法。（雙人協作加：兩節點分接兩台電腦，我負責節點〔A/B〕與本機閘道，隊友負責另一節點，雙方經MQTT交換資料。）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2926080"/>
            <a:ext cx="8229600" cy="784098"/>
          </a:xfrm>
          <a:prstGeom prst="roundRect">
            <a:avLst>
              <a:gd name="adj" fmla="val 10496"/>
            </a:avLst>
          </a:prstGeom>
          <a:solidFill>
            <a:srgbClr val="F4FAF9"/>
          </a:solidFill>
          <a:ln w="15875">
            <a:solidFill>
              <a:srgbClr val="0A7E8C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640080" y="2788920"/>
            <a:ext cx="1993392" cy="292608"/>
          </a:xfrm>
          <a:prstGeom prst="roundRect">
            <a:avLst>
              <a:gd name="adj" fmla="val 50000"/>
            </a:avLst>
          </a:prstGeom>
          <a:solidFill>
            <a:srgbClr val="0A7E8C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788920"/>
            <a:ext cx="1993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接線表（第3、4節）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58368" y="3108960"/>
            <a:ext cx="7827264" cy="491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430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請提供〔節點X〕的接線表（模組：〔清單〕）：欄位=模組/模組腳位/UNO腳位/備註，電源與GND獨立成列，需外部供電的模組請說明接法；表後說明注意事項與腳位衝突風險。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3931920"/>
            <a:ext cx="8229600" cy="784098"/>
          </a:xfrm>
          <a:prstGeom prst="roundRect">
            <a:avLst>
              <a:gd name="adj" fmla="val 10496"/>
            </a:avLst>
          </a:prstGeom>
          <a:solidFill>
            <a:srgbClr val="F4FAF9"/>
          </a:solidFill>
          <a:ln w="15875">
            <a:solidFill>
              <a:srgbClr val="0A7E8C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640080" y="3794760"/>
            <a:ext cx="2249424" cy="292608"/>
          </a:xfrm>
          <a:prstGeom prst="roundRect">
            <a:avLst>
              <a:gd name="adj" fmla="val 50000"/>
            </a:avLst>
          </a:prstGeom>
          <a:solidFill>
            <a:srgbClr val="0A7E8C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794760"/>
            <a:ext cx="22494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單模組測試（第3、4節）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58368" y="4114800"/>
            <a:ext cx="7827264" cy="491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430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請給〔模組名，含腳位〕的獨立測試程式（多個模組可一次列出、各自獨立）：每行中文註解、告訴我上傳後如何驗證成功（監控視窗baud與預期輸出）。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49640" y="486460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AACB5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l"/>
            <a:fld id="{F7021451-1387-4CA6-816F-3879F97B5CBC}" type="slidenum">
              <a:rPr lang="en-US" b="0"/>
              <a:t>32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603504" cy="310896"/>
          </a:xfrm>
          <a:prstGeom prst="roundRect">
            <a:avLst>
              <a:gd name="adj" fmla="val 50000"/>
            </a:avLst>
          </a:prstGeom>
          <a:solidFill>
            <a:srgbClr val="0A7E8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603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附錄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225296" y="219456"/>
            <a:ext cx="7443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430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今日 Prompt 速查（2/2）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229600" cy="784098"/>
          </a:xfrm>
          <a:prstGeom prst="roundRect">
            <a:avLst>
              <a:gd name="adj" fmla="val 10496"/>
            </a:avLst>
          </a:prstGeom>
          <a:solidFill>
            <a:srgbClr val="F4FAF9"/>
          </a:solidFill>
          <a:ln w="15875">
            <a:solidFill>
              <a:srgbClr val="0A7E8C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640080" y="1051560"/>
            <a:ext cx="2121408" cy="292608"/>
          </a:xfrm>
          <a:prstGeom prst="roundRect">
            <a:avLst>
              <a:gd name="adj" fmla="val 50000"/>
            </a:avLst>
          </a:prstGeom>
          <a:solidFill>
            <a:srgbClr val="0A7E8C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051560"/>
            <a:ext cx="2121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④ 節點整合（第3、4節）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58368" y="1371600"/>
            <a:ext cx="7827264" cy="491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430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各模組測試已通過（結果：…）。請給〔節點X〕整合程式：〔功能1/2/3〕。沿用已驗證的腳位不要更動、millis()非阻塞、中文註解、附逐項驗證步驟。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2377440"/>
            <a:ext cx="8229600" cy="784098"/>
          </a:xfrm>
          <a:prstGeom prst="roundRect">
            <a:avLst>
              <a:gd name="adj" fmla="val 10496"/>
            </a:avLst>
          </a:prstGeom>
          <a:solidFill>
            <a:srgbClr val="F4FAF9"/>
          </a:solidFill>
          <a:ln w="15875">
            <a:solidFill>
              <a:srgbClr val="0A7E8C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640080" y="2240280"/>
            <a:ext cx="1993392" cy="292608"/>
          </a:xfrm>
          <a:prstGeom prst="roundRect">
            <a:avLst>
              <a:gd name="adj" fmla="val 50000"/>
            </a:avLst>
          </a:prstGeom>
          <a:solidFill>
            <a:srgbClr val="0A7E8C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240280"/>
            <a:ext cx="1993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⑤ 問題回報（全天通用）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58368" y="2560320"/>
            <a:ext cx="7827264" cy="491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430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【我在做什麼】…【預期】…【實際】…【錯誤訊息】全文照貼/無【已檢查】…。請列出最可能的2~3個原因，一次一個給我可驗證的檢查步驟。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3520440"/>
            <a:ext cx="8229600" cy="784098"/>
          </a:xfrm>
          <a:prstGeom prst="roundRect">
            <a:avLst>
              <a:gd name="adj" fmla="val 10496"/>
            </a:avLst>
          </a:prstGeom>
          <a:solidFill>
            <a:srgbClr val="F4FAF9"/>
          </a:solidFill>
          <a:ln w="15875">
            <a:solidFill>
              <a:srgbClr val="0A7E8C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640080" y="3383280"/>
            <a:ext cx="2249424" cy="292608"/>
          </a:xfrm>
          <a:prstGeom prst="roundRect">
            <a:avLst>
              <a:gd name="adj" fmla="val 50000"/>
            </a:avLst>
          </a:prstGeom>
          <a:solidFill>
            <a:srgbClr val="0A7E8C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383280"/>
            <a:ext cx="22494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⑥ 生成 flow（第5節）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58368" y="3703320"/>
            <a:ext cx="7827264" cy="491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430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請生成可直接Import的Node-RED flow JSON：〔serial/mqtt/function/dashboard需求〕；每段接debug節點；JSON後列出匯入後需手動確認的設定。（雙人：只描述「自己這台電腦」要負責的那一段）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4462272"/>
            <a:ext cx="8229600" cy="365760"/>
          </a:xfrm>
          <a:prstGeom prst="roundRect">
            <a:avLst>
              <a:gd name="adj" fmla="val 20000"/>
            </a:avLst>
          </a:prstGeom>
          <a:solidFill>
            <a:srgbClr val="E7F3E9"/>
          </a:solidFill>
          <a:ln/>
        </p:spPr>
      </p:sp>
      <p:sp>
        <p:nvSpPr>
          <p:cNvPr id="18" name="Shape 16"/>
          <p:cNvSpPr/>
          <p:nvPr/>
        </p:nvSpPr>
        <p:spPr>
          <a:xfrm>
            <a:off x="566928" y="4526280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2E8540"/>
          </a:solidFill>
          <a:ln/>
        </p:spPr>
      </p:sp>
      <p:sp>
        <p:nvSpPr>
          <p:cNvPr id="19" name="Text 17"/>
          <p:cNvSpPr/>
          <p:nvPr/>
        </p:nvSpPr>
        <p:spPr>
          <a:xfrm>
            <a:off x="566928" y="4526280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TIP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261872" y="4498848"/>
            <a:ext cx="7269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430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所有模板的完整版與更多變化，見完整版教材附錄四頁速查表。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49640" y="486460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AACB5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l"/>
            <a:fld id="{F7021451-1387-4CA6-816F-3879F97B5CBC}" type="slidenum">
              <a:rPr lang="en-US" b="0"/>
              <a:t>33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4298</Words>
  <Application>Microsoft Office PowerPoint</Application>
  <PresentationFormat>如螢幕大小 (16:9)</PresentationFormat>
  <Paragraphs>593</Paragraphs>
  <Slides>33</Slides>
  <Notes>33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33</vt:i4>
      </vt:variant>
    </vt:vector>
  </HeadingPairs>
  <TitlesOfParts>
    <vt:vector size="38" baseType="lpstr">
      <vt:lpstr>Microsoft JhengHei</vt:lpstr>
      <vt:lpstr>Arial</vt:lpstr>
      <vt:lpstr>Calibri</vt:lpstr>
      <vt:lpstr>Courier New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用生成式AI完成你的物聯網專題（一日速成版）</dc:title>
  <dc:subject>PptxGenJS Presentation</dc:subject>
  <dc:creator>G.H. Liaw</dc:creator>
  <cp:lastModifiedBy>G.H. Liaw</cp:lastModifiedBy>
  <cp:revision>4</cp:revision>
  <dcterms:created xsi:type="dcterms:W3CDTF">2026-07-11T04:35:08Z</dcterms:created>
  <dcterms:modified xsi:type="dcterms:W3CDTF">2026-07-11T05:40:03Z</dcterms:modified>
</cp:coreProperties>
</file>